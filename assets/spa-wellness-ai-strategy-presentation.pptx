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1279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about 85 seconds. OPEN with the industry and product opportunity together. Imagine a fictional operator with 20 salons: Meera (COO) sees customer acquisition soften and margins tighten. Zenoti's published 2026 benchmark reports new guest visits fell a weighted 10% across eight beauty/wellness segments in 2025 (salons 5–7% depending on category). Zenoti's 2025 report (2024 observations) says 42% of repeat guests accounted for 80% of revenue. Other sector concerns include labor-cost pressure, independent-stylist competition and e-commerce retail disruption; do not claim quantified effects for this fictional company. Then distinguish PUBLIC REVIEWS from sector pressures: G2 7 April 2026 verified user's complaint about date-range customization; Capterra office manager 3 July 2026 reported occasional data discrepancies; Capterra 2026 user described combining reports and doing manual Excel work (summary translated from French). These are individual reviews of Zenoti reporting more broadly, not Zenoti AI Business Advisor users necessarily. Also acknowledge many positive reviews praising depth, customer support and analytics. Meera says: 'How can I trust the numbers, and can Arjun get clear advice when a trend is abnormal?' Transition slide 2: trustworthy recommendations need clear metric definitions, source freshness, evidence, an approved manager action, then proof of benefit. Sources: https://www.zenoti.com/thecheckin/salon-trends-2026 ; https://www.zenoti.com/thecheckin/beauty-wellness-industry-statistics-2025 ; https://www.g2.com/products/zenoti/reviews?page=6&amp;qs=pros-and-cons ; https://www.capterra.com/p/131057/ZENOTI/reviews/?page=2 </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55 seconds. Meera’s vision is trust, adopt, repeat, prove. Zenoti AI Business Advisor ALREADY provides narratives, KPI formulas, suggested actions and contextual followups. Do not claim it lacks recommendations. The enhancement is a consistent answer contract with clearly displayed source freshness/analysis time and warning state, durable analysis definitions for scheduled runs, opt-in anomaly alerts, and outcome tracking where needed. Meera needs confidence; Arjun needs one next step; Neha needs governance. Transition to who needs what. Source https://help.zenoti.com/en/ai-business-advisor.html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60 seconds. Meera as COO is buyer, Arjun operational champion, Neha governance owner. In the story, operating pressures from slide 1 create different questions: Meera wants margin and growth, Arjun needs repeat visits/capacity and actionable shortlists, Neha needs scoped access and predictable AI cost. Prioritize Arjun’s weekly decision workflow, validate whether Meera sees financial return, and keep Neha controls as release gates.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65 seconds. Acknowledge $1.12B includes the entire spa and salon software category (Mordor Intelligence, 2026), not AI data products. Illustrative bottom-up assumptions: 3,000 global eligible orgs x $18K annual add-on = $54M; 750 reachable x $18K = $13.5M; 25 paid x $18K = $450K. None of the account counts or price are sourced forecasts. Meera's buyer question is whether there is enough incremental customer value to justify payment. To validate: segment Zenoti's installed base, current analytics entitlements, buyer interviews, competitor packaging, paid tests, gross-margin economics. Source https://www.mordorintelligence.com/industry-reports/spa-and-salon-software-market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95 seconds. This is the key narrative pivot. Arjun asks a normal AI Business Advisor question. Existing product ALREADY supports Fast/Thinking modes, KPI definitions and formulas, narratives, suggested actions, chat history, pinning, and PDF exports. Zenoti also has other alerts and retention capabilities. DO NOT claim those are new. The demonstration is an illustrative desired response format: source THROUGH timestamp, ANALYSIS timestamp, anomaly vs baseline, likely drivers to check (not fabricated causality), action and owner. Product extensions to validate are consistent source-freshness state, reusable scheduled AI insight definition, clear threshold alerts and recording outcome. If data is stale, show a stale flag and avoid urgent action prompts. Source https://help.zenoti.com/en/ai-business-advisor.html ; 2026 benchmark https://www.zenoti.com/thecheckin/salon-medspa-booking-flow-revenue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75 seconds. First Monday: Arjun asks existing Advisor; it can explain and pin. Proposed: save a re-runnable analytical definition with a 30-day rolling window, group and current permission scope; automatically rerun weekly. The UI must expose last source update and run time, and warn if stale. If a configurable threshold persists, invite review—not trigger an autonomous campaign. Arjun owns the decision, Neha owns approved recipients, Meera evaluates effect of action. Link to 2026 sector concerns: if repeat visit frequency dips, spot earlier; if labor cost rises, keep capacity in view. Source https://help.zenoti.com/en/ai-business-advisor.html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90 seconds. Walk the diagram left to right. Zenoti captures appointments, payments, customer activity, retail products and staff hours. Use EXISTING analytic layer (do not assert its undocumented internal exact architecture), establish certified KPI definitions, reconcile refunds/timezones/closed visits. AI Business Advisor ALREADY analyzes. PROPOSED saved insight should rerun via deterministic KPI queries whenever possible, Thinking/deep analysis only for new investigatory questions. Two distinct freshness stamps: upstream source watermark vs generated answer timestamp. Some Zenoti Appointment Insights refresh daily; Business Snapshot supports roughly five-minute delay. Therefore freshness must be per-source/product, never promise uniform real time. If stale or reconciliation fails, suppress high-priority alerts and show data quality warning. Neha checks scope every scheduled job, audit and cost. Sources: https://help.zenoti.com/en/ai-business-advisor.html ; https://help.zenoti.com/en/analytics/analytics-express/appointment-insights-dashboard.html ; https://help.zenoti.com/en/analytics/business-snapshot.html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75 seconds. Neha as customer admin sees and manages tenant-level governance. Six applicable controls: unique identity, audit evidence, scoped permissions, emergency stop/rollback, drift or quality monitoring and shadow unauthorized schedules. Actual proposed six boxes adapt the governance image without using its unverified 40% statistic. Since AI Business Advisor is currently read-only, guardrails address analysis execution and report distribution, not unseen autonomous write actions. Tenant-aware cache must always revalidate auth and source freshness. Cost control: routine scheduled KPI queries use deterministic calculations, deep model only on a new investigatory question, summarize context safely, limit expensive requests, quota per tenant. Across AI Business Advisor, Retention Manager and Dispute Manager, propose an admin cost and usage console subject to feasibility and existing system review. Sources https://help.zenoti.com/en/ai-business-advisor.html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90 seconds. Prioritize existing Zenoti capabilities: already AI analysis and recommendations, existing retention manager, role access, and some scheduling/report exporting. Rather than rebuild, Q1 validate frequent recurring question and certified KPIs; Q2 save and refresh one insight, using existing scheduler if reusable; 95% pilot run success threshold (not production SLO) and 0 unauthorized recipients; Q3 limited thresholds and freshness-aware alerts; Q4 action attribution and paid-pilot packaging. Underlying industry themes from slide1: retention, staffing capacity, wage/margin, retail mix. Avoid claiming new AI churn prediction or auto campaigns, both existing elsewhere. Example if sales down but source stale -&gt; show warning not prescription. Specific actual targets are proposed, validate with engineering.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115 seconds. Meera's proof requirement: not number of generated AI answers but customer outcomes and Zenoti paid adoption. Illustrative example 20 salons x 900 completed paid visits/month x12 =216,000/year. With 0.25%, 0.5%, 1% visit lift, 540/1080/2160 additional visits. At $95 average ticket incremental gross sales $51.3K/$102.6K/$205.2K; 35% margin gives $17,955/$35,910/$71,820 contribution. Relative lift NOT retention percentage points. Critically a saved dashboard by itself creates NO revenue. Arjun must take real action (approve marketing outreach via existing workflow or rebalance schedules), and a properly designed treatment/holdout experiment must show incremental completed paid visits with discount/variable-cost accounting. First-year partial ramp is smaller than full annual steady state. Only after validated uplift should Meera consider an add-on; Zenoti tracks paid attach, customer gross-margin, costs per useful insight and renewals. This is modeled, not customer result or price forecast.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zenoti.com/thecheckin/salon-trends-2026"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hyperlink" Target="https://www.capterra.com/p/131057/ZENOTI/reviews/?page=2" TargetMode="External"/><Relationship Id="rId5" Type="http://schemas.openxmlformats.org/officeDocument/2006/relationships/hyperlink" Target="https://www.g2.com/products/zenoti/reviews?page=6&amp;qs=pros-and-cons" TargetMode="External"/><Relationship Id="rId4" Type="http://schemas.openxmlformats.org/officeDocument/2006/relationships/hyperlink" Target="https://www.zenoti.com/thecheckin/beauty-wellness-industry-statistics-2025"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mordorintelligence.com/industry-reports/spa-and-salon-software-market"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84632" y="228600"/>
            <a:ext cx="10058400" cy="274320"/>
          </a:xfrm>
          <a:prstGeom prst="rect">
            <a:avLst/>
          </a:prstGeom>
          <a:noFill/>
        </p:spPr>
        <p:txBody>
          <a:bodyPr wrap="square" lIns="18288" tIns="18288" rIns="18288" bIns="18288" anchor="ctr">
            <a:spAutoFit/>
          </a:bodyPr>
          <a:lstStyle/>
          <a:p>
            <a:pPr>
              <a:spcBef>
                <a:spcPts val="0"/>
              </a:spcBef>
              <a:spcAft>
                <a:spcPts val="0"/>
              </a:spcAft>
            </a:pPr>
            <a:r>
              <a:rPr sz="1120" b="1">
                <a:solidFill>
                  <a:srgbClr val="007E78"/>
                </a:solidFill>
                <a:latin typeface="Aptos"/>
              </a:rPr>
              <a:t>MEERA · THE CUSTOMER PROBLEM</a:t>
            </a:r>
          </a:p>
        </p:txBody>
      </p:sp>
      <p:sp>
        <p:nvSpPr>
          <p:cNvPr id="5" name="TextBox 4"/>
          <p:cNvSpPr txBox="1"/>
          <p:nvPr/>
        </p:nvSpPr>
        <p:spPr>
          <a:xfrm>
            <a:off x="484632" y="667512"/>
            <a:ext cx="11155680" cy="502920"/>
          </a:xfrm>
          <a:prstGeom prst="rect">
            <a:avLst/>
          </a:prstGeom>
          <a:noFill/>
        </p:spPr>
        <p:txBody>
          <a:bodyPr wrap="square" lIns="18288" tIns="18288" rIns="18288" bIns="18288" anchor="ctr">
            <a:spAutoFit/>
          </a:bodyPr>
          <a:lstStyle/>
          <a:p>
            <a:pPr>
              <a:spcBef>
                <a:spcPts val="0"/>
              </a:spcBef>
              <a:spcAft>
                <a:spcPts val="0"/>
              </a:spcAft>
            </a:pPr>
            <a:r>
              <a:rPr sz="2800" b="1">
                <a:solidFill>
                  <a:srgbClr val="13283F"/>
                </a:solidFill>
                <a:latin typeface="Aptos"/>
              </a:rPr>
              <a:t>Salons face growth pressure. Reporting must earn trust.</a:t>
            </a:r>
          </a:p>
        </p:txBody>
      </p:sp>
      <p:sp>
        <p:nvSpPr>
          <p:cNvPr id="6" name="TextBox 5"/>
          <p:cNvSpPr txBox="1"/>
          <p:nvPr/>
        </p:nvSpPr>
        <p:spPr>
          <a:xfrm>
            <a:off x="493776" y="1252728"/>
            <a:ext cx="11064240" cy="429768"/>
          </a:xfrm>
          <a:prstGeom prst="rect">
            <a:avLst/>
          </a:prstGeom>
          <a:noFill/>
        </p:spPr>
        <p:txBody>
          <a:bodyPr wrap="square" lIns="18288" tIns="18288" rIns="18288" bIns="18288" anchor="ctr">
            <a:spAutoFit/>
          </a:bodyPr>
          <a:lstStyle/>
          <a:p>
            <a:pPr>
              <a:spcBef>
                <a:spcPts val="0"/>
              </a:spcBef>
              <a:spcAft>
                <a:spcPts val="0"/>
              </a:spcAft>
            </a:pPr>
            <a:r>
              <a:rPr sz="1570" b="0">
                <a:solidFill>
                  <a:srgbClr val="63788C"/>
                </a:solidFill>
                <a:latin typeface="Aptos"/>
              </a:rPr>
              <a:t>Industry data reveals the stakes; selected Zenoti user reviews highlight reporting friction.</a:t>
            </a:r>
          </a:p>
        </p:txBody>
      </p:sp>
      <p:sp>
        <p:nvSpPr>
          <p:cNvPr id="7" name="TextBox 6"/>
          <p:cNvSpPr txBox="1"/>
          <p:nvPr/>
        </p:nvSpPr>
        <p:spPr>
          <a:xfrm>
            <a:off x="11274552" y="6437376"/>
            <a:ext cx="438912" cy="219456"/>
          </a:xfrm>
          <a:prstGeom prst="rect">
            <a:avLst/>
          </a:prstGeom>
          <a:noFill/>
        </p:spPr>
        <p:txBody>
          <a:bodyPr wrap="square" lIns="18288" tIns="18288" rIns="18288" bIns="18288" anchor="ctr">
            <a:spAutoFit/>
          </a:bodyPr>
          <a:lstStyle/>
          <a:p>
            <a:pPr algn="r">
              <a:spcBef>
                <a:spcPts val="0"/>
              </a:spcBef>
              <a:spcAft>
                <a:spcPts val="0"/>
              </a:spcAft>
            </a:pPr>
            <a:r>
              <a:rPr sz="1050" b="1">
                <a:solidFill>
                  <a:srgbClr val="63788C"/>
                </a:solidFill>
                <a:latin typeface="Aptos"/>
              </a:rPr>
              <a:t>01</a:t>
            </a:r>
          </a:p>
        </p:txBody>
      </p:sp>
      <p:sp>
        <p:nvSpPr>
          <p:cNvPr id="8" name="Rounded Rectangle 7"/>
          <p:cNvSpPr/>
          <p:nvPr/>
        </p:nvSpPr>
        <p:spPr>
          <a:xfrm>
            <a:off x="493776" y="1874519"/>
            <a:ext cx="5504688" cy="3611880"/>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93776" y="1874519"/>
            <a:ext cx="5504688" cy="438912"/>
          </a:xfrm>
          <a:prstGeom prst="rect">
            <a:avLst/>
          </a:prstGeom>
          <a:solidFill>
            <a:srgbClr val="DC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984248"/>
            <a:ext cx="5138928" cy="246888"/>
          </a:xfrm>
          <a:prstGeom prst="rect">
            <a:avLst/>
          </a:prstGeom>
          <a:noFill/>
        </p:spPr>
        <p:txBody>
          <a:bodyPr wrap="square" lIns="18288" tIns="18288" rIns="18288" bIns="18288" anchor="ctr">
            <a:spAutoFit/>
          </a:bodyPr>
          <a:lstStyle/>
          <a:p>
            <a:pPr>
              <a:spcBef>
                <a:spcPts val="0"/>
              </a:spcBef>
              <a:spcAft>
                <a:spcPts val="0"/>
              </a:spcAft>
            </a:pPr>
            <a:r>
              <a:rPr sz="1230" b="1">
                <a:solidFill>
                  <a:srgbClr val="007E78"/>
                </a:solidFill>
                <a:latin typeface="Aptos"/>
              </a:rPr>
              <a:t>INDUSTRY PRESSURE · REVENUE + MARGIN</a:t>
            </a:r>
          </a:p>
        </p:txBody>
      </p:sp>
      <p:sp>
        <p:nvSpPr>
          <p:cNvPr id="11" name="Rounded Rectangle 10"/>
          <p:cNvSpPr/>
          <p:nvPr/>
        </p:nvSpPr>
        <p:spPr>
          <a:xfrm>
            <a:off x="704088" y="2514600"/>
            <a:ext cx="2258568" cy="1700784"/>
          </a:xfrm>
          <a:prstGeom prst="roundRect">
            <a:avLst/>
          </a:prstGeom>
          <a:solidFill>
            <a:srgbClr val="13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660904"/>
            <a:ext cx="1883664" cy="585216"/>
          </a:xfrm>
          <a:prstGeom prst="rect">
            <a:avLst/>
          </a:prstGeom>
          <a:noFill/>
        </p:spPr>
        <p:txBody>
          <a:bodyPr wrap="square" lIns="18288" tIns="18288" rIns="18288" bIns="18288" anchor="ctr">
            <a:spAutoFit/>
          </a:bodyPr>
          <a:lstStyle/>
          <a:p>
            <a:pPr>
              <a:spcBef>
                <a:spcPts val="0"/>
              </a:spcBef>
              <a:spcAft>
                <a:spcPts val="0"/>
              </a:spcAft>
            </a:pPr>
            <a:r>
              <a:rPr sz="3550" b="1">
                <a:solidFill>
                  <a:srgbClr val="FFFFFF"/>
                </a:solidFill>
                <a:latin typeface="Aptos"/>
              </a:rPr>
              <a:t>−10%</a:t>
            </a:r>
          </a:p>
        </p:txBody>
      </p:sp>
      <p:sp>
        <p:nvSpPr>
          <p:cNvPr id="13" name="TextBox 12"/>
          <p:cNvSpPr txBox="1"/>
          <p:nvPr/>
        </p:nvSpPr>
        <p:spPr>
          <a:xfrm>
            <a:off x="859536" y="3383280"/>
            <a:ext cx="1865376" cy="557784"/>
          </a:xfrm>
          <a:prstGeom prst="rect">
            <a:avLst/>
          </a:prstGeom>
          <a:noFill/>
        </p:spPr>
        <p:txBody>
          <a:bodyPr wrap="square" lIns="18288" tIns="18288" rIns="18288" bIns="18288" anchor="ctr">
            <a:spAutoFit/>
          </a:bodyPr>
          <a:lstStyle/>
          <a:p>
            <a:pPr>
              <a:spcBef>
                <a:spcPts val="0"/>
              </a:spcBef>
              <a:spcAft>
                <a:spcPts val="0"/>
              </a:spcAft>
            </a:pPr>
            <a:r>
              <a:rPr sz="1350" b="0">
                <a:solidFill>
                  <a:srgbClr val="FFFFFF"/>
                </a:solidFill>
                <a:latin typeface="Aptos"/>
              </a:rPr>
              <a:t>New guest visits in 2025 across 8 segments</a:t>
            </a:r>
          </a:p>
        </p:txBody>
      </p:sp>
      <p:sp>
        <p:nvSpPr>
          <p:cNvPr id="14" name="Rounded Rectangle 13"/>
          <p:cNvSpPr/>
          <p:nvPr/>
        </p:nvSpPr>
        <p:spPr>
          <a:xfrm>
            <a:off x="3108960" y="2523744"/>
            <a:ext cx="2633472" cy="768096"/>
          </a:xfrm>
          <a:prstGeom prst="roundRect">
            <a:avLst/>
          </a:prstGeom>
          <a:solidFill>
            <a:srgbClr val="DC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46120" y="2660904"/>
            <a:ext cx="2267712" cy="265176"/>
          </a:xfrm>
          <a:prstGeom prst="rect">
            <a:avLst/>
          </a:prstGeom>
          <a:noFill/>
        </p:spPr>
        <p:txBody>
          <a:bodyPr wrap="square" lIns="18288" tIns="18288" rIns="18288" bIns="18288" anchor="ctr">
            <a:spAutoFit/>
          </a:bodyPr>
          <a:lstStyle/>
          <a:p>
            <a:pPr>
              <a:spcBef>
                <a:spcPts val="0"/>
              </a:spcBef>
              <a:spcAft>
                <a:spcPts val="0"/>
              </a:spcAft>
            </a:pPr>
            <a:r>
              <a:rPr sz="1930" b="1">
                <a:solidFill>
                  <a:srgbClr val="13283F"/>
                </a:solidFill>
                <a:latin typeface="Aptos"/>
              </a:rPr>
              <a:t>80% of sales</a:t>
            </a:r>
          </a:p>
        </p:txBody>
      </p:sp>
      <p:sp>
        <p:nvSpPr>
          <p:cNvPr id="16" name="TextBox 15"/>
          <p:cNvSpPr txBox="1"/>
          <p:nvPr/>
        </p:nvSpPr>
        <p:spPr>
          <a:xfrm>
            <a:off x="3236976" y="2962656"/>
            <a:ext cx="2350008" cy="201168"/>
          </a:xfrm>
          <a:prstGeom prst="rect">
            <a:avLst/>
          </a:prstGeom>
          <a:noFill/>
        </p:spPr>
        <p:txBody>
          <a:bodyPr wrap="square" lIns="18288" tIns="18288" rIns="18288" bIns="18288" anchor="ctr">
            <a:spAutoFit/>
          </a:bodyPr>
          <a:lstStyle/>
          <a:p>
            <a:pPr>
              <a:spcBef>
                <a:spcPts val="0"/>
              </a:spcBef>
              <a:spcAft>
                <a:spcPts val="0"/>
              </a:spcAft>
            </a:pPr>
            <a:r>
              <a:rPr sz="1210" b="0">
                <a:solidFill>
                  <a:srgbClr val="007E78"/>
                </a:solidFill>
                <a:latin typeface="Aptos"/>
              </a:rPr>
              <a:t>from 42% loyal guests¹</a:t>
            </a:r>
          </a:p>
        </p:txBody>
      </p:sp>
      <p:sp>
        <p:nvSpPr>
          <p:cNvPr id="17" name="Rounded Rectangle 16"/>
          <p:cNvSpPr/>
          <p:nvPr/>
        </p:nvSpPr>
        <p:spPr>
          <a:xfrm>
            <a:off x="3108960" y="3392424"/>
            <a:ext cx="2633472" cy="822960"/>
          </a:xfrm>
          <a:prstGeom prst="roundRect">
            <a:avLst/>
          </a:prstGeom>
          <a:solidFill>
            <a:srgbClr val="FEF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55264" y="3483864"/>
            <a:ext cx="2258568" cy="246888"/>
          </a:xfrm>
          <a:prstGeom prst="rect">
            <a:avLst/>
          </a:prstGeom>
          <a:noFill/>
        </p:spPr>
        <p:txBody>
          <a:bodyPr wrap="square" lIns="18288" tIns="18288" rIns="18288" bIns="18288" anchor="ctr">
            <a:spAutoFit/>
          </a:bodyPr>
          <a:lstStyle/>
          <a:p>
            <a:pPr>
              <a:spcBef>
                <a:spcPts val="0"/>
              </a:spcBef>
              <a:spcAft>
                <a:spcPts val="0"/>
              </a:spcAft>
            </a:pPr>
            <a:r>
              <a:rPr sz="1400" b="1">
                <a:solidFill>
                  <a:srgbClr val="B56812"/>
                </a:solidFill>
                <a:latin typeface="Aptos"/>
              </a:rPr>
              <a:t>OPERATING COSTS</a:t>
            </a:r>
          </a:p>
        </p:txBody>
      </p:sp>
      <p:sp>
        <p:nvSpPr>
          <p:cNvPr id="19" name="TextBox 18"/>
          <p:cNvSpPr txBox="1"/>
          <p:nvPr/>
        </p:nvSpPr>
        <p:spPr>
          <a:xfrm>
            <a:off x="3255264" y="3785615"/>
            <a:ext cx="2276856" cy="384048"/>
          </a:xfrm>
          <a:prstGeom prst="rect">
            <a:avLst/>
          </a:prstGeom>
          <a:noFill/>
        </p:spPr>
        <p:txBody>
          <a:bodyPr wrap="square" lIns="18288" tIns="18288" rIns="18288" bIns="18288" anchor="ctr">
            <a:spAutoFit/>
          </a:bodyPr>
          <a:lstStyle/>
          <a:p>
            <a:pPr>
              <a:spcBef>
                <a:spcPts val="0"/>
              </a:spcBef>
              <a:spcAft>
                <a:spcPts val="0"/>
              </a:spcAft>
            </a:pPr>
            <a:r>
              <a:rPr sz="1140" b="0">
                <a:solidFill>
                  <a:srgbClr val="13283F"/>
                </a:solidFill>
                <a:latin typeface="Aptos"/>
              </a:rPr>
              <a:t>Labor • freelance competition • online retail</a:t>
            </a:r>
          </a:p>
        </p:txBody>
      </p:sp>
      <p:sp>
        <p:nvSpPr>
          <p:cNvPr id="20" name="TextBox 19"/>
          <p:cNvSpPr txBox="1"/>
          <p:nvPr/>
        </p:nvSpPr>
        <p:spPr>
          <a:xfrm>
            <a:off x="713232" y="4425696"/>
            <a:ext cx="1636776" cy="228600"/>
          </a:xfrm>
          <a:prstGeom prst="rect">
            <a:avLst/>
          </a:prstGeom>
          <a:noFill/>
        </p:spPr>
        <p:txBody>
          <a:bodyPr wrap="square" lIns="18288" tIns="18288" rIns="18288" bIns="18288" anchor="ctr">
            <a:spAutoFit/>
          </a:bodyPr>
          <a:lstStyle/>
          <a:p>
            <a:pPr>
              <a:spcBef>
                <a:spcPts val="0"/>
              </a:spcBef>
              <a:spcAft>
                <a:spcPts val="0"/>
              </a:spcAft>
            </a:pPr>
            <a:r>
              <a:rPr sz="1150" b="1">
                <a:solidFill>
                  <a:srgbClr val="007E78"/>
                </a:solidFill>
                <a:latin typeface="Aptos"/>
              </a:rPr>
              <a:t>MEERA’S QUESTION</a:t>
            </a:r>
          </a:p>
        </p:txBody>
      </p:sp>
      <p:sp>
        <p:nvSpPr>
          <p:cNvPr id="21" name="TextBox 20"/>
          <p:cNvSpPr txBox="1"/>
          <p:nvPr/>
        </p:nvSpPr>
        <p:spPr>
          <a:xfrm>
            <a:off x="713232" y="4681728"/>
            <a:ext cx="4983480" cy="576072"/>
          </a:xfrm>
          <a:prstGeom prst="rect">
            <a:avLst/>
          </a:prstGeom>
          <a:noFill/>
        </p:spPr>
        <p:txBody>
          <a:bodyPr wrap="square" lIns="18288" tIns="18288" rIns="18288" bIns="18288" anchor="ctr">
            <a:spAutoFit/>
          </a:bodyPr>
          <a:lstStyle/>
          <a:p>
            <a:pPr>
              <a:spcBef>
                <a:spcPts val="0"/>
              </a:spcBef>
              <a:spcAft>
                <a:spcPts val="0"/>
              </a:spcAft>
            </a:pPr>
            <a:r>
              <a:rPr sz="1650" b="1">
                <a:solidFill>
                  <a:srgbClr val="13283F"/>
                </a:solidFill>
                <a:latin typeface="Aptos"/>
              </a:rPr>
              <a:t>“Which salons risk losing guests or profit—and where should Arjun act first?”</a:t>
            </a:r>
          </a:p>
        </p:txBody>
      </p:sp>
      <p:sp>
        <p:nvSpPr>
          <p:cNvPr id="22" name="TextBox 21"/>
          <p:cNvSpPr txBox="1"/>
          <p:nvPr/>
        </p:nvSpPr>
        <p:spPr>
          <a:xfrm>
            <a:off x="713232" y="5276088"/>
            <a:ext cx="1444752" cy="201168"/>
          </a:xfrm>
          <a:prstGeom prst="rect">
            <a:avLst/>
          </a:prstGeom>
          <a:noFill/>
        </p:spPr>
        <p:txBody>
          <a:bodyPr wrap="square" lIns="18288" tIns="18288" rIns="18288" bIns="18288" anchor="ctr">
            <a:spAutoFit/>
          </a:bodyPr>
          <a:lstStyle/>
          <a:p>
            <a:pPr>
              <a:spcBef>
                <a:spcPts val="0"/>
              </a:spcBef>
              <a:spcAft>
                <a:spcPts val="0"/>
              </a:spcAft>
            </a:pPr>
            <a:r>
              <a:rPr sz="1060" b="1">
                <a:solidFill>
                  <a:srgbClr val="1569C7"/>
                </a:solidFill>
                <a:latin typeface="Aptos"/>
                <a:hlinkClick r:id="rId3"/>
              </a:rPr>
              <a:t>Zenoti 2026 ↗</a:t>
            </a:r>
          </a:p>
        </p:txBody>
      </p:sp>
      <p:sp>
        <p:nvSpPr>
          <p:cNvPr id="23" name="TextBox 22"/>
          <p:cNvSpPr txBox="1"/>
          <p:nvPr/>
        </p:nvSpPr>
        <p:spPr>
          <a:xfrm>
            <a:off x="2322576" y="5276088"/>
            <a:ext cx="1572768" cy="201168"/>
          </a:xfrm>
          <a:prstGeom prst="rect">
            <a:avLst/>
          </a:prstGeom>
          <a:noFill/>
        </p:spPr>
        <p:txBody>
          <a:bodyPr wrap="square" lIns="18288" tIns="18288" rIns="18288" bIns="18288" anchor="ctr">
            <a:spAutoFit/>
          </a:bodyPr>
          <a:lstStyle/>
          <a:p>
            <a:pPr>
              <a:spcBef>
                <a:spcPts val="0"/>
              </a:spcBef>
              <a:spcAft>
                <a:spcPts val="0"/>
              </a:spcAft>
            </a:pPr>
            <a:r>
              <a:rPr sz="1060" b="1">
                <a:solidFill>
                  <a:srgbClr val="1569C7"/>
                </a:solidFill>
                <a:latin typeface="Aptos"/>
                <a:hlinkClick r:id="rId4"/>
              </a:rPr>
              <a:t>2025 loyalty ↗</a:t>
            </a:r>
          </a:p>
        </p:txBody>
      </p:sp>
      <p:sp>
        <p:nvSpPr>
          <p:cNvPr id="24" name="Rounded Rectangle 23"/>
          <p:cNvSpPr/>
          <p:nvPr/>
        </p:nvSpPr>
        <p:spPr>
          <a:xfrm>
            <a:off x="6190488" y="1874519"/>
            <a:ext cx="5522976" cy="3611880"/>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90488" y="1874519"/>
            <a:ext cx="5522976" cy="438912"/>
          </a:xfrm>
          <a:prstGeom prst="rect">
            <a:avLst/>
          </a:prstGeom>
          <a:solidFill>
            <a:srgbClr val="E8F1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73368" y="1984248"/>
            <a:ext cx="5056632" cy="246888"/>
          </a:xfrm>
          <a:prstGeom prst="rect">
            <a:avLst/>
          </a:prstGeom>
          <a:noFill/>
        </p:spPr>
        <p:txBody>
          <a:bodyPr wrap="square" lIns="18288" tIns="18288" rIns="18288" bIns="18288" anchor="ctr">
            <a:spAutoFit/>
          </a:bodyPr>
          <a:lstStyle/>
          <a:p>
            <a:pPr>
              <a:spcBef>
                <a:spcPts val="0"/>
              </a:spcBef>
              <a:spcAft>
                <a:spcPts val="0"/>
              </a:spcAft>
            </a:pPr>
            <a:r>
              <a:rPr sz="1230" b="1">
                <a:solidFill>
                  <a:srgbClr val="1569C7"/>
                </a:solidFill>
                <a:latin typeface="Aptos"/>
              </a:rPr>
              <a:t>PUBLIC CUSTOMER REVIEWS · REPORTING</a:t>
            </a:r>
          </a:p>
        </p:txBody>
      </p:sp>
      <p:sp>
        <p:nvSpPr>
          <p:cNvPr id="27" name="TextBox 26"/>
          <p:cNvSpPr txBox="1"/>
          <p:nvPr/>
        </p:nvSpPr>
        <p:spPr>
          <a:xfrm>
            <a:off x="6419088" y="2478024"/>
            <a:ext cx="1389888" cy="219456"/>
          </a:xfrm>
          <a:prstGeom prst="rect">
            <a:avLst/>
          </a:prstGeom>
          <a:noFill/>
        </p:spPr>
        <p:txBody>
          <a:bodyPr wrap="square" lIns="18288" tIns="18288" rIns="18288" bIns="18288" anchor="ctr">
            <a:spAutoFit/>
          </a:bodyPr>
          <a:lstStyle/>
          <a:p>
            <a:pPr>
              <a:spcBef>
                <a:spcPts val="0"/>
              </a:spcBef>
              <a:spcAft>
                <a:spcPts val="0"/>
              </a:spcAft>
            </a:pPr>
            <a:r>
              <a:rPr sz="1030" b="1">
                <a:solidFill>
                  <a:srgbClr val="1569C7"/>
                </a:solidFill>
                <a:latin typeface="Aptos"/>
              </a:rPr>
              <a:t>CUSTOMIZATION</a:t>
            </a:r>
          </a:p>
        </p:txBody>
      </p:sp>
      <p:sp>
        <p:nvSpPr>
          <p:cNvPr id="28" name="TextBox 27"/>
          <p:cNvSpPr txBox="1"/>
          <p:nvPr/>
        </p:nvSpPr>
        <p:spPr>
          <a:xfrm>
            <a:off x="7882127" y="2459736"/>
            <a:ext cx="3520440" cy="411480"/>
          </a:xfrm>
          <a:prstGeom prst="rect">
            <a:avLst/>
          </a:prstGeom>
          <a:noFill/>
        </p:spPr>
        <p:txBody>
          <a:bodyPr wrap="square" lIns="18288" tIns="18288" rIns="18288" bIns="18288" anchor="ctr">
            <a:spAutoFit/>
          </a:bodyPr>
          <a:lstStyle/>
          <a:p>
            <a:pPr>
              <a:spcBef>
                <a:spcPts val="0"/>
              </a:spcBef>
              <a:spcAft>
                <a:spcPts val="0"/>
              </a:spcAft>
            </a:pPr>
            <a:r>
              <a:rPr sz="1310" b="0">
                <a:solidFill>
                  <a:srgbClr val="13283F"/>
                </a:solidFill>
                <a:latin typeface="Aptos"/>
              </a:rPr>
              <a:t>“something very simple like a date range on a report.”</a:t>
            </a:r>
          </a:p>
        </p:txBody>
      </p:sp>
      <p:sp>
        <p:nvSpPr>
          <p:cNvPr id="29" name="TextBox 28"/>
          <p:cNvSpPr txBox="1"/>
          <p:nvPr/>
        </p:nvSpPr>
        <p:spPr>
          <a:xfrm>
            <a:off x="6419088" y="2962656"/>
            <a:ext cx="3977639" cy="219456"/>
          </a:xfrm>
          <a:prstGeom prst="rect">
            <a:avLst/>
          </a:prstGeom>
          <a:noFill/>
        </p:spPr>
        <p:txBody>
          <a:bodyPr wrap="square" lIns="18288" tIns="18288" rIns="18288" bIns="18288" anchor="ctr">
            <a:spAutoFit/>
          </a:bodyPr>
          <a:lstStyle/>
          <a:p>
            <a:pPr>
              <a:spcBef>
                <a:spcPts val="0"/>
              </a:spcBef>
              <a:spcAft>
                <a:spcPts val="0"/>
              </a:spcAft>
            </a:pPr>
            <a:r>
              <a:rPr sz="1070" b="0">
                <a:solidFill>
                  <a:srgbClr val="63788C"/>
                </a:solidFill>
                <a:latin typeface="Aptos"/>
              </a:rPr>
              <a:t>G2 · verified user · 7 Apr 2026</a:t>
            </a:r>
          </a:p>
        </p:txBody>
      </p:sp>
      <p:sp>
        <p:nvSpPr>
          <p:cNvPr id="30" name="TextBox 29"/>
          <p:cNvSpPr txBox="1"/>
          <p:nvPr/>
        </p:nvSpPr>
        <p:spPr>
          <a:xfrm>
            <a:off x="10387584" y="2990088"/>
            <a:ext cx="1124712" cy="201168"/>
          </a:xfrm>
          <a:prstGeom prst="rect">
            <a:avLst/>
          </a:prstGeom>
          <a:noFill/>
        </p:spPr>
        <p:txBody>
          <a:bodyPr wrap="square" lIns="18288" tIns="18288" rIns="18288" bIns="18288" anchor="ctr">
            <a:spAutoFit/>
          </a:bodyPr>
          <a:lstStyle/>
          <a:p>
            <a:pPr>
              <a:spcBef>
                <a:spcPts val="0"/>
              </a:spcBef>
              <a:spcAft>
                <a:spcPts val="0"/>
              </a:spcAft>
            </a:pPr>
            <a:r>
              <a:rPr sz="1060" b="1">
                <a:solidFill>
                  <a:srgbClr val="1569C7"/>
                </a:solidFill>
                <a:latin typeface="Aptos"/>
                <a:hlinkClick r:id="rId5"/>
              </a:rPr>
              <a:t>Read review ↗</a:t>
            </a:r>
          </a:p>
        </p:txBody>
      </p:sp>
      <p:cxnSp>
        <p:nvCxnSpPr>
          <p:cNvPr id="31" name="Connector 30"/>
          <p:cNvCxnSpPr/>
          <p:nvPr/>
        </p:nvCxnSpPr>
        <p:spPr>
          <a:xfrm>
            <a:off x="6409944" y="3346704"/>
            <a:ext cx="5047488" cy="0"/>
          </a:xfrm>
          <a:prstGeom prst="line">
            <a:avLst/>
          </a:prstGeom>
          <a:ln w="10795">
            <a:solidFill>
              <a:srgbClr val="DCE6EC"/>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19088" y="3410712"/>
            <a:ext cx="1389888" cy="219456"/>
          </a:xfrm>
          <a:prstGeom prst="rect">
            <a:avLst/>
          </a:prstGeom>
          <a:noFill/>
        </p:spPr>
        <p:txBody>
          <a:bodyPr wrap="square" lIns="18288" tIns="18288" rIns="18288" bIns="18288" anchor="ctr">
            <a:spAutoFit/>
          </a:bodyPr>
          <a:lstStyle/>
          <a:p>
            <a:pPr>
              <a:spcBef>
                <a:spcPts val="0"/>
              </a:spcBef>
              <a:spcAft>
                <a:spcPts val="0"/>
              </a:spcAft>
            </a:pPr>
            <a:r>
              <a:rPr sz="1030" b="1">
                <a:solidFill>
                  <a:srgbClr val="1569C7"/>
                </a:solidFill>
                <a:latin typeface="Aptos"/>
              </a:rPr>
              <a:t>DATA CONFIDENCE</a:t>
            </a:r>
          </a:p>
        </p:txBody>
      </p:sp>
      <p:sp>
        <p:nvSpPr>
          <p:cNvPr id="33" name="TextBox 32"/>
          <p:cNvSpPr txBox="1"/>
          <p:nvPr/>
        </p:nvSpPr>
        <p:spPr>
          <a:xfrm>
            <a:off x="7882127" y="3392424"/>
            <a:ext cx="3520440" cy="411480"/>
          </a:xfrm>
          <a:prstGeom prst="rect">
            <a:avLst/>
          </a:prstGeom>
          <a:noFill/>
        </p:spPr>
        <p:txBody>
          <a:bodyPr wrap="square" lIns="18288" tIns="18288" rIns="18288" bIns="18288" anchor="ctr">
            <a:spAutoFit/>
          </a:bodyPr>
          <a:lstStyle/>
          <a:p>
            <a:pPr>
              <a:spcBef>
                <a:spcPts val="0"/>
              </a:spcBef>
              <a:spcAft>
                <a:spcPts val="0"/>
              </a:spcAft>
            </a:pPr>
            <a:r>
              <a:rPr sz="1310" b="0">
                <a:solidFill>
                  <a:srgbClr val="13283F"/>
                </a:solidFill>
                <a:latin typeface="Aptos"/>
              </a:rPr>
              <a:t>“we have experienced some discrepancies in the data.”</a:t>
            </a:r>
          </a:p>
        </p:txBody>
      </p:sp>
      <p:sp>
        <p:nvSpPr>
          <p:cNvPr id="34" name="TextBox 33"/>
          <p:cNvSpPr txBox="1"/>
          <p:nvPr/>
        </p:nvSpPr>
        <p:spPr>
          <a:xfrm>
            <a:off x="6419088" y="3895344"/>
            <a:ext cx="3977639" cy="219456"/>
          </a:xfrm>
          <a:prstGeom prst="rect">
            <a:avLst/>
          </a:prstGeom>
          <a:noFill/>
        </p:spPr>
        <p:txBody>
          <a:bodyPr wrap="square" lIns="18288" tIns="18288" rIns="18288" bIns="18288" anchor="ctr">
            <a:spAutoFit/>
          </a:bodyPr>
          <a:lstStyle/>
          <a:p>
            <a:pPr>
              <a:spcBef>
                <a:spcPts val="0"/>
              </a:spcBef>
              <a:spcAft>
                <a:spcPts val="0"/>
              </a:spcAft>
            </a:pPr>
            <a:r>
              <a:rPr sz="1070" b="0">
                <a:solidFill>
                  <a:srgbClr val="63788C"/>
                </a:solidFill>
                <a:latin typeface="Aptos"/>
              </a:rPr>
              <a:t>Capterra · office manager · 3 Jul 2026</a:t>
            </a:r>
          </a:p>
        </p:txBody>
      </p:sp>
      <p:sp>
        <p:nvSpPr>
          <p:cNvPr id="35" name="TextBox 34"/>
          <p:cNvSpPr txBox="1"/>
          <p:nvPr/>
        </p:nvSpPr>
        <p:spPr>
          <a:xfrm>
            <a:off x="10387584" y="3922776"/>
            <a:ext cx="1124712" cy="201168"/>
          </a:xfrm>
          <a:prstGeom prst="rect">
            <a:avLst/>
          </a:prstGeom>
          <a:noFill/>
        </p:spPr>
        <p:txBody>
          <a:bodyPr wrap="square" lIns="18288" tIns="18288" rIns="18288" bIns="18288" anchor="ctr">
            <a:spAutoFit/>
          </a:bodyPr>
          <a:lstStyle/>
          <a:p>
            <a:pPr>
              <a:spcBef>
                <a:spcPts val="0"/>
              </a:spcBef>
              <a:spcAft>
                <a:spcPts val="0"/>
              </a:spcAft>
            </a:pPr>
            <a:r>
              <a:rPr sz="1060" b="1">
                <a:solidFill>
                  <a:srgbClr val="1569C7"/>
                </a:solidFill>
                <a:latin typeface="Aptos"/>
                <a:hlinkClick r:id="rId6"/>
              </a:rPr>
              <a:t>Read review ↗</a:t>
            </a:r>
          </a:p>
        </p:txBody>
      </p:sp>
      <p:cxnSp>
        <p:nvCxnSpPr>
          <p:cNvPr id="36" name="Connector 35"/>
          <p:cNvCxnSpPr/>
          <p:nvPr/>
        </p:nvCxnSpPr>
        <p:spPr>
          <a:xfrm>
            <a:off x="6409944" y="4279392"/>
            <a:ext cx="5047488" cy="0"/>
          </a:xfrm>
          <a:prstGeom prst="line">
            <a:avLst/>
          </a:prstGeom>
          <a:ln w="10795">
            <a:solidFill>
              <a:srgbClr val="DCE6EC"/>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19088" y="4343400"/>
            <a:ext cx="1389888" cy="219456"/>
          </a:xfrm>
          <a:prstGeom prst="rect">
            <a:avLst/>
          </a:prstGeom>
          <a:noFill/>
        </p:spPr>
        <p:txBody>
          <a:bodyPr wrap="square" lIns="18288" tIns="18288" rIns="18288" bIns="18288" anchor="ctr">
            <a:spAutoFit/>
          </a:bodyPr>
          <a:lstStyle/>
          <a:p>
            <a:pPr>
              <a:spcBef>
                <a:spcPts val="0"/>
              </a:spcBef>
              <a:spcAft>
                <a:spcPts val="0"/>
              </a:spcAft>
            </a:pPr>
            <a:r>
              <a:rPr sz="1030" b="1">
                <a:solidFill>
                  <a:srgbClr val="1569C7"/>
                </a:solidFill>
                <a:latin typeface="Aptos"/>
              </a:rPr>
              <a:t>MANUAL REWORK</a:t>
            </a:r>
          </a:p>
        </p:txBody>
      </p:sp>
      <p:sp>
        <p:nvSpPr>
          <p:cNvPr id="38" name="TextBox 37"/>
          <p:cNvSpPr txBox="1"/>
          <p:nvPr/>
        </p:nvSpPr>
        <p:spPr>
          <a:xfrm>
            <a:off x="7882127" y="4325112"/>
            <a:ext cx="3520440" cy="411480"/>
          </a:xfrm>
          <a:prstGeom prst="rect">
            <a:avLst/>
          </a:prstGeom>
          <a:noFill/>
        </p:spPr>
        <p:txBody>
          <a:bodyPr wrap="square" lIns="18288" tIns="18288" rIns="18288" bIns="18288" anchor="ctr">
            <a:spAutoFit/>
          </a:bodyPr>
          <a:lstStyle/>
          <a:p>
            <a:pPr>
              <a:spcBef>
                <a:spcPts val="0"/>
              </a:spcBef>
              <a:spcAft>
                <a:spcPts val="0"/>
              </a:spcAft>
            </a:pPr>
            <a:r>
              <a:rPr sz="1310" b="0">
                <a:solidFill>
                  <a:srgbClr val="13283F"/>
                </a:solidFill>
                <a:latin typeface="Aptos"/>
              </a:rPr>
              <a:t>One customer describes using several reports and reworking exports in Excel.</a:t>
            </a:r>
          </a:p>
        </p:txBody>
      </p:sp>
      <p:sp>
        <p:nvSpPr>
          <p:cNvPr id="39" name="TextBox 38"/>
          <p:cNvSpPr txBox="1"/>
          <p:nvPr/>
        </p:nvSpPr>
        <p:spPr>
          <a:xfrm>
            <a:off x="6419088" y="4828032"/>
            <a:ext cx="3977639" cy="219456"/>
          </a:xfrm>
          <a:prstGeom prst="rect">
            <a:avLst/>
          </a:prstGeom>
          <a:noFill/>
        </p:spPr>
        <p:txBody>
          <a:bodyPr wrap="square" lIns="18288" tIns="18288" rIns="18288" bIns="18288" anchor="ctr">
            <a:spAutoFit/>
          </a:bodyPr>
          <a:lstStyle/>
          <a:p>
            <a:pPr>
              <a:spcBef>
                <a:spcPts val="0"/>
              </a:spcBef>
              <a:spcAft>
                <a:spcPts val="0"/>
              </a:spcAft>
            </a:pPr>
            <a:r>
              <a:rPr sz="1070" b="0">
                <a:solidFill>
                  <a:srgbClr val="63788C"/>
                </a:solidFill>
                <a:latin typeface="Aptos"/>
              </a:rPr>
              <a:t>Capterra · user review (translated) · 2026</a:t>
            </a:r>
          </a:p>
        </p:txBody>
      </p:sp>
      <p:sp>
        <p:nvSpPr>
          <p:cNvPr id="40" name="TextBox 39"/>
          <p:cNvSpPr txBox="1"/>
          <p:nvPr/>
        </p:nvSpPr>
        <p:spPr>
          <a:xfrm>
            <a:off x="10387584" y="4855464"/>
            <a:ext cx="1124712" cy="201168"/>
          </a:xfrm>
          <a:prstGeom prst="rect">
            <a:avLst/>
          </a:prstGeom>
          <a:noFill/>
        </p:spPr>
        <p:txBody>
          <a:bodyPr wrap="square" lIns="18288" tIns="18288" rIns="18288" bIns="18288" anchor="ctr">
            <a:spAutoFit/>
          </a:bodyPr>
          <a:lstStyle/>
          <a:p>
            <a:pPr>
              <a:spcBef>
                <a:spcPts val="0"/>
              </a:spcBef>
              <a:spcAft>
                <a:spcPts val="0"/>
              </a:spcAft>
            </a:pPr>
            <a:r>
              <a:rPr sz="1060" b="1">
                <a:solidFill>
                  <a:srgbClr val="1569C7"/>
                </a:solidFill>
                <a:latin typeface="Aptos"/>
                <a:hlinkClick r:id="rId6"/>
              </a:rPr>
              <a:t>Read review ↗</a:t>
            </a:r>
          </a:p>
        </p:txBody>
      </p:sp>
      <p:sp>
        <p:nvSpPr>
          <p:cNvPr id="41" name="TextBox 40"/>
          <p:cNvSpPr txBox="1"/>
          <p:nvPr/>
        </p:nvSpPr>
        <p:spPr>
          <a:xfrm>
            <a:off x="6382512" y="5330952"/>
            <a:ext cx="5047488" cy="164592"/>
          </a:xfrm>
          <a:prstGeom prst="rect">
            <a:avLst/>
          </a:prstGeom>
          <a:noFill/>
        </p:spPr>
        <p:txBody>
          <a:bodyPr wrap="square" lIns="18288" tIns="18288" rIns="18288" bIns="18288" anchor="ctr">
            <a:spAutoFit/>
          </a:bodyPr>
          <a:lstStyle/>
          <a:p>
            <a:pPr>
              <a:spcBef>
                <a:spcPts val="0"/>
              </a:spcBef>
              <a:spcAft>
                <a:spcPts val="0"/>
              </a:spcAft>
            </a:pPr>
            <a:r>
              <a:rPr sz="990" b="0">
                <a:solidFill>
                  <a:srgbClr val="63788C"/>
                </a:solidFill>
                <a:latin typeface="Aptos"/>
              </a:rPr>
              <a:t>Selected reporting reviews; not evidence of AI Business Advisor defects.</a:t>
            </a:r>
          </a:p>
        </p:txBody>
      </p:sp>
      <p:sp>
        <p:nvSpPr>
          <p:cNvPr id="42" name="Rounded Rectangle 41"/>
          <p:cNvSpPr/>
          <p:nvPr/>
        </p:nvSpPr>
        <p:spPr>
          <a:xfrm>
            <a:off x="493776" y="5641848"/>
            <a:ext cx="11201400" cy="512064"/>
          </a:xfrm>
          <a:prstGeom prst="roundRect">
            <a:avLst/>
          </a:prstGeom>
          <a:solidFill>
            <a:srgbClr val="DC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13232" y="5779008"/>
            <a:ext cx="1490472" cy="192024"/>
          </a:xfrm>
          <a:prstGeom prst="rect">
            <a:avLst/>
          </a:prstGeom>
          <a:noFill/>
        </p:spPr>
        <p:txBody>
          <a:bodyPr wrap="square" lIns="18288" tIns="18288" rIns="18288" bIns="18288" anchor="ctr">
            <a:spAutoFit/>
          </a:bodyPr>
          <a:lstStyle/>
          <a:p>
            <a:pPr>
              <a:spcBef>
                <a:spcPts val="0"/>
              </a:spcBef>
              <a:spcAft>
                <a:spcPts val="0"/>
              </a:spcAft>
            </a:pPr>
            <a:r>
              <a:rPr sz="1060" b="1">
                <a:solidFill>
                  <a:srgbClr val="007E78"/>
                </a:solidFill>
                <a:latin typeface="Aptos"/>
              </a:rPr>
              <a:t>THE OPPORTUNITY</a:t>
            </a:r>
          </a:p>
        </p:txBody>
      </p:sp>
      <p:sp>
        <p:nvSpPr>
          <p:cNvPr id="44" name="TextBox 43"/>
          <p:cNvSpPr txBox="1"/>
          <p:nvPr/>
        </p:nvSpPr>
        <p:spPr>
          <a:xfrm>
            <a:off x="2221992" y="5742432"/>
            <a:ext cx="9052560" cy="274320"/>
          </a:xfrm>
          <a:prstGeom prst="rect">
            <a:avLst/>
          </a:prstGeom>
          <a:noFill/>
        </p:spPr>
        <p:txBody>
          <a:bodyPr wrap="square" lIns="18288" tIns="18288" rIns="18288" bIns="18288" anchor="ctr">
            <a:spAutoFit/>
          </a:bodyPr>
          <a:lstStyle/>
          <a:p>
            <a:pPr>
              <a:spcBef>
                <a:spcPts val="0"/>
              </a:spcBef>
              <a:spcAft>
                <a:spcPts val="0"/>
              </a:spcAft>
            </a:pPr>
            <a:r>
              <a:rPr sz="1610" b="1">
                <a:solidFill>
                  <a:srgbClr val="13283F"/>
                </a:solidFill>
                <a:latin typeface="Aptos"/>
              </a:rPr>
              <a:t>Fresh data + explained abnormality + practical advice + measured profit = lasting trust.</a:t>
            </a:r>
          </a:p>
        </p:txBody>
      </p:sp>
      <p:sp>
        <p:nvSpPr>
          <p:cNvPr id="45" name="TextBox 44"/>
          <p:cNvSpPr txBox="1"/>
          <p:nvPr/>
        </p:nvSpPr>
        <p:spPr>
          <a:xfrm>
            <a:off x="557784" y="6254496"/>
            <a:ext cx="10415016" cy="173736"/>
          </a:xfrm>
          <a:prstGeom prst="rect">
            <a:avLst/>
          </a:prstGeom>
          <a:noFill/>
        </p:spPr>
        <p:txBody>
          <a:bodyPr wrap="square" lIns="18288" tIns="18288" rIns="18288" bIns="18288" anchor="ctr">
            <a:spAutoFit/>
          </a:bodyPr>
          <a:lstStyle/>
          <a:p>
            <a:pPr>
              <a:spcBef>
                <a:spcPts val="0"/>
              </a:spcBef>
              <a:spcAft>
                <a:spcPts val="0"/>
              </a:spcAft>
            </a:pPr>
            <a:r>
              <a:rPr sz="960" b="0">
                <a:solidFill>
                  <a:srgbClr val="63788C"/>
                </a:solidFill>
                <a:latin typeface="Aptos"/>
              </a:rPr>
              <a:t>¹ 2025 benchmark reflects earlier reporting period. Hypothetical 20-salon scenario; reviews are individual experiences.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84632" y="228600"/>
            <a:ext cx="10058400" cy="274320"/>
          </a:xfrm>
          <a:prstGeom prst="rect">
            <a:avLst/>
          </a:prstGeom>
          <a:noFill/>
        </p:spPr>
        <p:txBody>
          <a:bodyPr wrap="square" lIns="18288" tIns="18288" rIns="18288" bIns="18288" anchor="ctr">
            <a:spAutoFit/>
          </a:bodyPr>
          <a:lstStyle/>
          <a:p>
            <a:pPr>
              <a:spcBef>
                <a:spcPts val="0"/>
              </a:spcBef>
              <a:spcAft>
                <a:spcPts val="0"/>
              </a:spcAft>
            </a:pPr>
            <a:r>
              <a:rPr sz="1120" b="1">
                <a:solidFill>
                  <a:srgbClr val="007E78"/>
                </a:solidFill>
                <a:latin typeface="Aptos"/>
              </a:rPr>
              <a:t>MEERA · PRODUCT VISION</a:t>
            </a:r>
          </a:p>
        </p:txBody>
      </p:sp>
      <p:sp>
        <p:nvSpPr>
          <p:cNvPr id="5" name="TextBox 4"/>
          <p:cNvSpPr txBox="1"/>
          <p:nvPr/>
        </p:nvSpPr>
        <p:spPr>
          <a:xfrm>
            <a:off x="484632" y="667512"/>
            <a:ext cx="11155680" cy="502920"/>
          </a:xfrm>
          <a:prstGeom prst="rect">
            <a:avLst/>
          </a:prstGeom>
          <a:noFill/>
        </p:spPr>
        <p:txBody>
          <a:bodyPr wrap="square" lIns="18288" tIns="18288" rIns="18288" bIns="18288" anchor="ctr">
            <a:spAutoFit/>
          </a:bodyPr>
          <a:lstStyle/>
          <a:p>
            <a:pPr>
              <a:spcBef>
                <a:spcPts val="0"/>
              </a:spcBef>
              <a:spcAft>
                <a:spcPts val="0"/>
              </a:spcAft>
            </a:pPr>
            <a:r>
              <a:rPr sz="2800" b="1">
                <a:solidFill>
                  <a:srgbClr val="13283F"/>
                </a:solidFill>
                <a:latin typeface="Aptos"/>
              </a:rPr>
              <a:t>Trust the data. Act on what matters. Prove the value.</a:t>
            </a:r>
          </a:p>
        </p:txBody>
      </p:sp>
      <p:sp>
        <p:nvSpPr>
          <p:cNvPr id="6" name="TextBox 5"/>
          <p:cNvSpPr txBox="1"/>
          <p:nvPr/>
        </p:nvSpPr>
        <p:spPr>
          <a:xfrm>
            <a:off x="493776" y="1252728"/>
            <a:ext cx="11064240" cy="429768"/>
          </a:xfrm>
          <a:prstGeom prst="rect">
            <a:avLst/>
          </a:prstGeom>
          <a:noFill/>
        </p:spPr>
        <p:txBody>
          <a:bodyPr wrap="square" lIns="18288" tIns="18288" rIns="18288" bIns="18288" anchor="ctr">
            <a:spAutoFit/>
          </a:bodyPr>
          <a:lstStyle/>
          <a:p>
            <a:pPr>
              <a:spcBef>
                <a:spcPts val="0"/>
              </a:spcBef>
              <a:spcAft>
                <a:spcPts val="0"/>
              </a:spcAft>
            </a:pPr>
            <a:r>
              <a:rPr sz="1570" b="0">
                <a:solidFill>
                  <a:srgbClr val="63788C"/>
                </a:solidFill>
                <a:latin typeface="Aptos"/>
              </a:rPr>
              <a:t>Meera wants advice she can verify; Arjun wants timely next steps; Neha wants safe, repeatable delivery.</a:t>
            </a:r>
          </a:p>
        </p:txBody>
      </p:sp>
      <p:sp>
        <p:nvSpPr>
          <p:cNvPr id="7" name="TextBox 6"/>
          <p:cNvSpPr txBox="1"/>
          <p:nvPr/>
        </p:nvSpPr>
        <p:spPr>
          <a:xfrm>
            <a:off x="11274552" y="6437376"/>
            <a:ext cx="438912" cy="219456"/>
          </a:xfrm>
          <a:prstGeom prst="rect">
            <a:avLst/>
          </a:prstGeom>
          <a:noFill/>
        </p:spPr>
        <p:txBody>
          <a:bodyPr wrap="square" lIns="18288" tIns="18288" rIns="18288" bIns="18288" anchor="ctr">
            <a:spAutoFit/>
          </a:bodyPr>
          <a:lstStyle/>
          <a:p>
            <a:pPr algn="r">
              <a:spcBef>
                <a:spcPts val="0"/>
              </a:spcBef>
              <a:spcAft>
                <a:spcPts val="0"/>
              </a:spcAft>
            </a:pPr>
            <a:r>
              <a:rPr sz="1050" b="1">
                <a:solidFill>
                  <a:srgbClr val="63788C"/>
                </a:solidFill>
                <a:latin typeface="Aptos"/>
              </a:rPr>
              <a:t>02</a:t>
            </a:r>
          </a:p>
        </p:txBody>
      </p:sp>
      <p:sp>
        <p:nvSpPr>
          <p:cNvPr id="8" name="Rounded Rectangle 7"/>
          <p:cNvSpPr/>
          <p:nvPr/>
        </p:nvSpPr>
        <p:spPr>
          <a:xfrm>
            <a:off x="502920" y="1947672"/>
            <a:ext cx="2734056" cy="2953512"/>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04088" y="2157984"/>
            <a:ext cx="438912" cy="438912"/>
          </a:xfrm>
          <a:prstGeom prst="ellipse">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221992"/>
            <a:ext cx="384048" cy="256032"/>
          </a:xfrm>
          <a:prstGeom prst="rect">
            <a:avLst/>
          </a:prstGeom>
          <a:noFill/>
        </p:spPr>
        <p:txBody>
          <a:bodyPr wrap="square" lIns="18288" tIns="18288" rIns="18288" bIns="18288" anchor="ctr">
            <a:spAutoFit/>
          </a:bodyPr>
          <a:lstStyle/>
          <a:p>
            <a:pPr algn="ctr">
              <a:spcBef>
                <a:spcPts val="0"/>
              </a:spcBef>
              <a:spcAft>
                <a:spcPts val="0"/>
              </a:spcAft>
            </a:pPr>
            <a:r>
              <a:rPr sz="1300" b="1">
                <a:solidFill>
                  <a:srgbClr val="FFFFFF"/>
                </a:solidFill>
                <a:latin typeface="Aptos"/>
              </a:rPr>
              <a:t>01</a:t>
            </a:r>
          </a:p>
        </p:txBody>
      </p:sp>
      <p:sp>
        <p:nvSpPr>
          <p:cNvPr id="11" name="TextBox 10"/>
          <p:cNvSpPr txBox="1"/>
          <p:nvPr/>
        </p:nvSpPr>
        <p:spPr>
          <a:xfrm>
            <a:off x="713232" y="2724912"/>
            <a:ext cx="2286000" cy="329184"/>
          </a:xfrm>
          <a:prstGeom prst="rect">
            <a:avLst/>
          </a:prstGeom>
          <a:noFill/>
        </p:spPr>
        <p:txBody>
          <a:bodyPr wrap="square" lIns="18288" tIns="18288" rIns="18288" bIns="18288" anchor="ctr">
            <a:spAutoFit/>
          </a:bodyPr>
          <a:lstStyle/>
          <a:p>
            <a:pPr>
              <a:spcBef>
                <a:spcPts val="0"/>
              </a:spcBef>
              <a:spcAft>
                <a:spcPts val="0"/>
              </a:spcAft>
            </a:pPr>
            <a:r>
              <a:rPr sz="1750" b="1">
                <a:solidFill>
                  <a:srgbClr val="13283F"/>
                </a:solidFill>
                <a:latin typeface="Aptos"/>
              </a:rPr>
              <a:t>TRUST</a:t>
            </a:r>
          </a:p>
        </p:txBody>
      </p:sp>
      <p:sp>
        <p:nvSpPr>
          <p:cNvPr id="12" name="TextBox 11"/>
          <p:cNvSpPr txBox="1"/>
          <p:nvPr/>
        </p:nvSpPr>
        <p:spPr>
          <a:xfrm>
            <a:off x="713232" y="3163824"/>
            <a:ext cx="2340864" cy="923544"/>
          </a:xfrm>
          <a:prstGeom prst="rect">
            <a:avLst/>
          </a:prstGeom>
          <a:noFill/>
        </p:spPr>
        <p:txBody>
          <a:bodyPr wrap="square" lIns="18288" tIns="18288" rIns="18288" bIns="18288" anchor="ctr">
            <a:spAutoFit/>
          </a:bodyPr>
          <a:lstStyle/>
          <a:p>
            <a:pPr>
              <a:spcBef>
                <a:spcPts val="0"/>
              </a:spcBef>
              <a:spcAft>
                <a:spcPts val="0"/>
              </a:spcAft>
            </a:pPr>
            <a:r>
              <a:rPr sz="1600" b="0">
                <a:solidFill>
                  <a:srgbClr val="172B45"/>
                </a:solidFill>
                <a:latin typeface="Aptos"/>
              </a:rPr>
              <a:t>Tell Meera what the number means and how fresh it is.</a:t>
            </a:r>
          </a:p>
        </p:txBody>
      </p:sp>
      <p:sp>
        <p:nvSpPr>
          <p:cNvPr id="13" name="TextBox 12"/>
          <p:cNvSpPr txBox="1"/>
          <p:nvPr/>
        </p:nvSpPr>
        <p:spPr>
          <a:xfrm>
            <a:off x="722376" y="4389120"/>
            <a:ext cx="2267712" cy="283464"/>
          </a:xfrm>
          <a:prstGeom prst="rect">
            <a:avLst/>
          </a:prstGeom>
          <a:noFill/>
        </p:spPr>
        <p:txBody>
          <a:bodyPr wrap="square" lIns="18288" tIns="18288" rIns="18288" bIns="18288" anchor="ctr">
            <a:spAutoFit/>
          </a:bodyPr>
          <a:lstStyle/>
          <a:p>
            <a:pPr>
              <a:spcBef>
                <a:spcPts val="0"/>
              </a:spcBef>
              <a:spcAft>
                <a:spcPts val="0"/>
              </a:spcAft>
            </a:pPr>
            <a:r>
              <a:rPr sz="1130" b="1">
                <a:solidFill>
                  <a:srgbClr val="007E78"/>
                </a:solidFill>
                <a:latin typeface="Aptos"/>
              </a:rPr>
              <a:t>Metric definition • data age</a:t>
            </a:r>
          </a:p>
        </p:txBody>
      </p:sp>
      <p:sp>
        <p:nvSpPr>
          <p:cNvPr id="14" name="Rounded Rectangle 13"/>
          <p:cNvSpPr/>
          <p:nvPr/>
        </p:nvSpPr>
        <p:spPr>
          <a:xfrm>
            <a:off x="3410712" y="1947672"/>
            <a:ext cx="2734056" cy="2953512"/>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611880" y="2157984"/>
            <a:ext cx="438912" cy="438912"/>
          </a:xfrm>
          <a:prstGeom prst="ellipse">
            <a:avLst/>
          </a:prstGeom>
          <a:solidFill>
            <a:srgbClr val="1569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39312" y="2221992"/>
            <a:ext cx="384048" cy="256032"/>
          </a:xfrm>
          <a:prstGeom prst="rect">
            <a:avLst/>
          </a:prstGeom>
          <a:noFill/>
        </p:spPr>
        <p:txBody>
          <a:bodyPr wrap="square" lIns="18288" tIns="18288" rIns="18288" bIns="18288" anchor="ctr">
            <a:spAutoFit/>
          </a:bodyPr>
          <a:lstStyle/>
          <a:p>
            <a:pPr algn="ctr">
              <a:spcBef>
                <a:spcPts val="0"/>
              </a:spcBef>
              <a:spcAft>
                <a:spcPts val="0"/>
              </a:spcAft>
            </a:pPr>
            <a:r>
              <a:rPr sz="1300" b="1">
                <a:solidFill>
                  <a:srgbClr val="FFFFFF"/>
                </a:solidFill>
                <a:latin typeface="Aptos"/>
              </a:rPr>
              <a:t>02</a:t>
            </a:r>
          </a:p>
        </p:txBody>
      </p:sp>
      <p:sp>
        <p:nvSpPr>
          <p:cNvPr id="17" name="TextBox 16"/>
          <p:cNvSpPr txBox="1"/>
          <p:nvPr/>
        </p:nvSpPr>
        <p:spPr>
          <a:xfrm>
            <a:off x="3621024" y="2724912"/>
            <a:ext cx="2286000" cy="329184"/>
          </a:xfrm>
          <a:prstGeom prst="rect">
            <a:avLst/>
          </a:prstGeom>
          <a:noFill/>
        </p:spPr>
        <p:txBody>
          <a:bodyPr wrap="square" lIns="18288" tIns="18288" rIns="18288" bIns="18288" anchor="ctr">
            <a:spAutoFit/>
          </a:bodyPr>
          <a:lstStyle/>
          <a:p>
            <a:pPr>
              <a:spcBef>
                <a:spcPts val="0"/>
              </a:spcBef>
              <a:spcAft>
                <a:spcPts val="0"/>
              </a:spcAft>
            </a:pPr>
            <a:r>
              <a:rPr sz="1750" b="1">
                <a:solidFill>
                  <a:srgbClr val="13283F"/>
                </a:solidFill>
                <a:latin typeface="Aptos"/>
              </a:rPr>
              <a:t>ADOPT</a:t>
            </a:r>
          </a:p>
        </p:txBody>
      </p:sp>
      <p:sp>
        <p:nvSpPr>
          <p:cNvPr id="18" name="TextBox 17"/>
          <p:cNvSpPr txBox="1"/>
          <p:nvPr/>
        </p:nvSpPr>
        <p:spPr>
          <a:xfrm>
            <a:off x="3621024" y="3163824"/>
            <a:ext cx="2340864" cy="923544"/>
          </a:xfrm>
          <a:prstGeom prst="rect">
            <a:avLst/>
          </a:prstGeom>
          <a:noFill/>
        </p:spPr>
        <p:txBody>
          <a:bodyPr wrap="square" lIns="18288" tIns="18288" rIns="18288" bIns="18288" anchor="ctr">
            <a:spAutoFit/>
          </a:bodyPr>
          <a:lstStyle/>
          <a:p>
            <a:pPr>
              <a:spcBef>
                <a:spcPts val="0"/>
              </a:spcBef>
              <a:spcAft>
                <a:spcPts val="0"/>
              </a:spcAft>
            </a:pPr>
            <a:r>
              <a:rPr sz="1600" b="0">
                <a:solidFill>
                  <a:srgbClr val="172B45"/>
                </a:solidFill>
                <a:latin typeface="Aptos"/>
              </a:rPr>
              <a:t>Help Arjun spot abnormal performance and decide what to check.</a:t>
            </a:r>
          </a:p>
        </p:txBody>
      </p:sp>
      <p:sp>
        <p:nvSpPr>
          <p:cNvPr id="19" name="TextBox 18"/>
          <p:cNvSpPr txBox="1"/>
          <p:nvPr/>
        </p:nvSpPr>
        <p:spPr>
          <a:xfrm>
            <a:off x="3630168" y="4389120"/>
            <a:ext cx="2267712" cy="283464"/>
          </a:xfrm>
          <a:prstGeom prst="rect">
            <a:avLst/>
          </a:prstGeom>
          <a:noFill/>
        </p:spPr>
        <p:txBody>
          <a:bodyPr wrap="square" lIns="18288" tIns="18288" rIns="18288" bIns="18288" anchor="ctr">
            <a:spAutoFit/>
          </a:bodyPr>
          <a:lstStyle/>
          <a:p>
            <a:pPr>
              <a:spcBef>
                <a:spcPts val="0"/>
              </a:spcBef>
              <a:spcAft>
                <a:spcPts val="0"/>
              </a:spcAft>
            </a:pPr>
            <a:r>
              <a:rPr sz="1130" b="1">
                <a:solidFill>
                  <a:srgbClr val="1569C7"/>
                </a:solidFill>
                <a:latin typeface="Aptos"/>
              </a:rPr>
              <a:t>Evidence • recommended next step</a:t>
            </a:r>
          </a:p>
        </p:txBody>
      </p:sp>
      <p:sp>
        <p:nvSpPr>
          <p:cNvPr id="20" name="Rounded Rectangle 19"/>
          <p:cNvSpPr/>
          <p:nvPr/>
        </p:nvSpPr>
        <p:spPr>
          <a:xfrm>
            <a:off x="6318504" y="1947672"/>
            <a:ext cx="2734056" cy="2953512"/>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519672" y="2157984"/>
            <a:ext cx="438912" cy="438912"/>
          </a:xfrm>
          <a:prstGeom prst="ellipse">
            <a:avLst/>
          </a:prstGeom>
          <a:solidFill>
            <a:srgbClr val="B568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47104" y="2221992"/>
            <a:ext cx="384048" cy="256032"/>
          </a:xfrm>
          <a:prstGeom prst="rect">
            <a:avLst/>
          </a:prstGeom>
          <a:noFill/>
        </p:spPr>
        <p:txBody>
          <a:bodyPr wrap="square" lIns="18288" tIns="18288" rIns="18288" bIns="18288" anchor="ctr">
            <a:spAutoFit/>
          </a:bodyPr>
          <a:lstStyle/>
          <a:p>
            <a:pPr algn="ctr">
              <a:spcBef>
                <a:spcPts val="0"/>
              </a:spcBef>
              <a:spcAft>
                <a:spcPts val="0"/>
              </a:spcAft>
            </a:pPr>
            <a:r>
              <a:rPr sz="1300" b="1">
                <a:solidFill>
                  <a:srgbClr val="FFFFFF"/>
                </a:solidFill>
                <a:latin typeface="Aptos"/>
              </a:rPr>
              <a:t>03</a:t>
            </a:r>
          </a:p>
        </p:txBody>
      </p:sp>
      <p:sp>
        <p:nvSpPr>
          <p:cNvPr id="23" name="TextBox 22"/>
          <p:cNvSpPr txBox="1"/>
          <p:nvPr/>
        </p:nvSpPr>
        <p:spPr>
          <a:xfrm>
            <a:off x="6528816" y="2724912"/>
            <a:ext cx="2286000" cy="329184"/>
          </a:xfrm>
          <a:prstGeom prst="rect">
            <a:avLst/>
          </a:prstGeom>
          <a:noFill/>
        </p:spPr>
        <p:txBody>
          <a:bodyPr wrap="square" lIns="18288" tIns="18288" rIns="18288" bIns="18288" anchor="ctr">
            <a:spAutoFit/>
          </a:bodyPr>
          <a:lstStyle/>
          <a:p>
            <a:pPr>
              <a:spcBef>
                <a:spcPts val="0"/>
              </a:spcBef>
              <a:spcAft>
                <a:spcPts val="0"/>
              </a:spcAft>
            </a:pPr>
            <a:r>
              <a:rPr sz="1750" b="1">
                <a:solidFill>
                  <a:srgbClr val="13283F"/>
                </a:solidFill>
                <a:latin typeface="Aptos"/>
              </a:rPr>
              <a:t>REPEAT</a:t>
            </a:r>
          </a:p>
        </p:txBody>
      </p:sp>
      <p:sp>
        <p:nvSpPr>
          <p:cNvPr id="24" name="TextBox 23"/>
          <p:cNvSpPr txBox="1"/>
          <p:nvPr/>
        </p:nvSpPr>
        <p:spPr>
          <a:xfrm>
            <a:off x="6528816" y="3163824"/>
            <a:ext cx="2340864" cy="923544"/>
          </a:xfrm>
          <a:prstGeom prst="rect">
            <a:avLst/>
          </a:prstGeom>
          <a:noFill/>
        </p:spPr>
        <p:txBody>
          <a:bodyPr wrap="square" lIns="18288" tIns="18288" rIns="18288" bIns="18288" anchor="ctr">
            <a:spAutoFit/>
          </a:bodyPr>
          <a:lstStyle/>
          <a:p>
            <a:pPr>
              <a:spcBef>
                <a:spcPts val="0"/>
              </a:spcBef>
              <a:spcAft>
                <a:spcPts val="0"/>
              </a:spcAft>
            </a:pPr>
            <a:r>
              <a:rPr sz="1600" b="0">
                <a:solidFill>
                  <a:srgbClr val="172B45"/>
                </a:solidFill>
                <a:latin typeface="Aptos"/>
              </a:rPr>
              <a:t>Keep a valuable question updated, without asking it again.</a:t>
            </a:r>
          </a:p>
        </p:txBody>
      </p:sp>
      <p:sp>
        <p:nvSpPr>
          <p:cNvPr id="25" name="TextBox 24"/>
          <p:cNvSpPr txBox="1"/>
          <p:nvPr/>
        </p:nvSpPr>
        <p:spPr>
          <a:xfrm>
            <a:off x="6537960" y="4389120"/>
            <a:ext cx="2267712" cy="283464"/>
          </a:xfrm>
          <a:prstGeom prst="rect">
            <a:avLst/>
          </a:prstGeom>
          <a:noFill/>
        </p:spPr>
        <p:txBody>
          <a:bodyPr wrap="square" lIns="18288" tIns="18288" rIns="18288" bIns="18288" anchor="ctr">
            <a:spAutoFit/>
          </a:bodyPr>
          <a:lstStyle/>
          <a:p>
            <a:pPr>
              <a:spcBef>
                <a:spcPts val="0"/>
              </a:spcBef>
              <a:spcAft>
                <a:spcPts val="0"/>
              </a:spcAft>
            </a:pPr>
            <a:r>
              <a:rPr sz="1130" b="1">
                <a:solidFill>
                  <a:srgbClr val="B56812"/>
                </a:solidFill>
                <a:latin typeface="Aptos"/>
              </a:rPr>
              <a:t>Saved insight • schedule • alert</a:t>
            </a:r>
          </a:p>
        </p:txBody>
      </p:sp>
      <p:sp>
        <p:nvSpPr>
          <p:cNvPr id="26" name="Rounded Rectangle 25"/>
          <p:cNvSpPr/>
          <p:nvPr/>
        </p:nvSpPr>
        <p:spPr>
          <a:xfrm>
            <a:off x="9226296" y="1947672"/>
            <a:ext cx="2734056" cy="2953512"/>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427464" y="2157984"/>
            <a:ext cx="438912" cy="438912"/>
          </a:xfrm>
          <a:prstGeom prst="ellipse">
            <a:avLst/>
          </a:prstGeom>
          <a:solidFill>
            <a:srgbClr val="187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454896" y="2221992"/>
            <a:ext cx="384048" cy="256032"/>
          </a:xfrm>
          <a:prstGeom prst="rect">
            <a:avLst/>
          </a:prstGeom>
          <a:noFill/>
        </p:spPr>
        <p:txBody>
          <a:bodyPr wrap="square" lIns="18288" tIns="18288" rIns="18288" bIns="18288" anchor="ctr">
            <a:spAutoFit/>
          </a:bodyPr>
          <a:lstStyle/>
          <a:p>
            <a:pPr algn="ctr">
              <a:spcBef>
                <a:spcPts val="0"/>
              </a:spcBef>
              <a:spcAft>
                <a:spcPts val="0"/>
              </a:spcAft>
            </a:pPr>
            <a:r>
              <a:rPr sz="1300" b="1">
                <a:solidFill>
                  <a:srgbClr val="FFFFFF"/>
                </a:solidFill>
                <a:latin typeface="Aptos"/>
              </a:rPr>
              <a:t>04</a:t>
            </a:r>
          </a:p>
        </p:txBody>
      </p:sp>
      <p:sp>
        <p:nvSpPr>
          <p:cNvPr id="29" name="TextBox 28"/>
          <p:cNvSpPr txBox="1"/>
          <p:nvPr/>
        </p:nvSpPr>
        <p:spPr>
          <a:xfrm>
            <a:off x="9436608" y="2724912"/>
            <a:ext cx="2286000" cy="329184"/>
          </a:xfrm>
          <a:prstGeom prst="rect">
            <a:avLst/>
          </a:prstGeom>
          <a:noFill/>
        </p:spPr>
        <p:txBody>
          <a:bodyPr wrap="square" lIns="18288" tIns="18288" rIns="18288" bIns="18288" anchor="ctr">
            <a:spAutoFit/>
          </a:bodyPr>
          <a:lstStyle/>
          <a:p>
            <a:pPr>
              <a:spcBef>
                <a:spcPts val="0"/>
              </a:spcBef>
              <a:spcAft>
                <a:spcPts val="0"/>
              </a:spcAft>
            </a:pPr>
            <a:r>
              <a:rPr sz="1750" b="1">
                <a:solidFill>
                  <a:srgbClr val="13283F"/>
                </a:solidFill>
                <a:latin typeface="Aptos"/>
              </a:rPr>
              <a:t>PROVE</a:t>
            </a:r>
          </a:p>
        </p:txBody>
      </p:sp>
      <p:sp>
        <p:nvSpPr>
          <p:cNvPr id="30" name="TextBox 29"/>
          <p:cNvSpPr txBox="1"/>
          <p:nvPr/>
        </p:nvSpPr>
        <p:spPr>
          <a:xfrm>
            <a:off x="9436608" y="3163824"/>
            <a:ext cx="2340864" cy="923544"/>
          </a:xfrm>
          <a:prstGeom prst="rect">
            <a:avLst/>
          </a:prstGeom>
          <a:noFill/>
        </p:spPr>
        <p:txBody>
          <a:bodyPr wrap="square" lIns="18288" tIns="18288" rIns="18288" bIns="18288" anchor="ctr">
            <a:spAutoFit/>
          </a:bodyPr>
          <a:lstStyle/>
          <a:p>
            <a:pPr>
              <a:spcBef>
                <a:spcPts val="0"/>
              </a:spcBef>
              <a:spcAft>
                <a:spcPts val="0"/>
              </a:spcAft>
            </a:pPr>
            <a:r>
              <a:rPr sz="1600" b="0">
                <a:solidFill>
                  <a:srgbClr val="172B45"/>
                </a:solidFill>
                <a:latin typeface="Aptos"/>
              </a:rPr>
              <a:t>Show whether the action actually improved results.</a:t>
            </a:r>
          </a:p>
        </p:txBody>
      </p:sp>
      <p:sp>
        <p:nvSpPr>
          <p:cNvPr id="31" name="TextBox 30"/>
          <p:cNvSpPr txBox="1"/>
          <p:nvPr/>
        </p:nvSpPr>
        <p:spPr>
          <a:xfrm>
            <a:off x="9445752" y="4389120"/>
            <a:ext cx="2267712" cy="283464"/>
          </a:xfrm>
          <a:prstGeom prst="rect">
            <a:avLst/>
          </a:prstGeom>
          <a:noFill/>
        </p:spPr>
        <p:txBody>
          <a:bodyPr wrap="square" lIns="18288" tIns="18288" rIns="18288" bIns="18288" anchor="ctr">
            <a:spAutoFit/>
          </a:bodyPr>
          <a:lstStyle/>
          <a:p>
            <a:pPr>
              <a:spcBef>
                <a:spcPts val="0"/>
              </a:spcBef>
              <a:spcAft>
                <a:spcPts val="0"/>
              </a:spcAft>
            </a:pPr>
            <a:r>
              <a:rPr sz="1130" b="1">
                <a:solidFill>
                  <a:srgbClr val="187D54"/>
                </a:solidFill>
                <a:latin typeface="Aptos"/>
              </a:rPr>
              <a:t>Paid visits • margin • test</a:t>
            </a:r>
          </a:p>
        </p:txBody>
      </p:sp>
      <p:sp>
        <p:nvSpPr>
          <p:cNvPr id="32" name="Rounded Rectangle 31"/>
          <p:cNvSpPr/>
          <p:nvPr/>
        </p:nvSpPr>
        <p:spPr>
          <a:xfrm>
            <a:off x="512064" y="5230368"/>
            <a:ext cx="11064240" cy="749808"/>
          </a:xfrm>
          <a:prstGeom prst="roundRect">
            <a:avLst/>
          </a:prstGeom>
          <a:solidFill>
            <a:srgbClr val="DC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04088" y="5440680"/>
            <a:ext cx="932688" cy="219456"/>
          </a:xfrm>
          <a:prstGeom prst="rect">
            <a:avLst/>
          </a:prstGeom>
          <a:noFill/>
        </p:spPr>
        <p:txBody>
          <a:bodyPr wrap="square" lIns="18288" tIns="18288" rIns="18288" bIns="18288" anchor="ctr">
            <a:spAutoFit/>
          </a:bodyPr>
          <a:lstStyle/>
          <a:p>
            <a:pPr>
              <a:spcBef>
                <a:spcPts val="0"/>
              </a:spcBef>
              <a:spcAft>
                <a:spcPts val="0"/>
              </a:spcAft>
            </a:pPr>
            <a:r>
              <a:rPr sz="1140" b="1">
                <a:solidFill>
                  <a:srgbClr val="007E78"/>
                </a:solidFill>
                <a:latin typeface="Aptos"/>
              </a:rPr>
              <a:t>VISION</a:t>
            </a:r>
          </a:p>
        </p:txBody>
      </p:sp>
      <p:sp>
        <p:nvSpPr>
          <p:cNvPr id="34" name="TextBox 33"/>
          <p:cNvSpPr txBox="1"/>
          <p:nvPr/>
        </p:nvSpPr>
        <p:spPr>
          <a:xfrm>
            <a:off x="1719072" y="5385816"/>
            <a:ext cx="9509760" cy="347472"/>
          </a:xfrm>
          <a:prstGeom prst="rect">
            <a:avLst/>
          </a:prstGeom>
          <a:noFill/>
        </p:spPr>
        <p:txBody>
          <a:bodyPr wrap="square" lIns="18288" tIns="18288" rIns="18288" bIns="18288" anchor="ctr">
            <a:spAutoFit/>
          </a:bodyPr>
          <a:lstStyle/>
          <a:p>
            <a:pPr>
              <a:spcBef>
                <a:spcPts val="0"/>
              </a:spcBef>
              <a:spcAft>
                <a:spcPts val="0"/>
              </a:spcAft>
            </a:pPr>
            <a:r>
              <a:rPr sz="1900" b="1">
                <a:solidFill>
                  <a:srgbClr val="13283F"/>
                </a:solidFill>
                <a:latin typeface="Aptos"/>
              </a:rPr>
              <a:t>Trusted insights. Better decisions. Measurable business value.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84632" y="228600"/>
            <a:ext cx="10058400" cy="274320"/>
          </a:xfrm>
          <a:prstGeom prst="rect">
            <a:avLst/>
          </a:prstGeom>
          <a:noFill/>
        </p:spPr>
        <p:txBody>
          <a:bodyPr wrap="square" lIns="18288" tIns="18288" rIns="18288" bIns="18288" anchor="ctr">
            <a:spAutoFit/>
          </a:bodyPr>
          <a:lstStyle/>
          <a:p>
            <a:pPr>
              <a:spcBef>
                <a:spcPts val="0"/>
              </a:spcBef>
              <a:spcAft>
                <a:spcPts val="0"/>
              </a:spcAft>
            </a:pPr>
            <a:r>
              <a:rPr sz="1120" b="1">
                <a:solidFill>
                  <a:srgbClr val="007E78"/>
                </a:solidFill>
                <a:latin typeface="Aptos"/>
              </a:rPr>
              <a:t>MEERA · ARJUN · NEHA / PERSONAS</a:t>
            </a:r>
          </a:p>
        </p:txBody>
      </p:sp>
      <p:sp>
        <p:nvSpPr>
          <p:cNvPr id="5" name="TextBox 4"/>
          <p:cNvSpPr txBox="1"/>
          <p:nvPr/>
        </p:nvSpPr>
        <p:spPr>
          <a:xfrm>
            <a:off x="484632" y="667512"/>
            <a:ext cx="11155680" cy="502920"/>
          </a:xfrm>
          <a:prstGeom prst="rect">
            <a:avLst/>
          </a:prstGeom>
          <a:noFill/>
        </p:spPr>
        <p:txBody>
          <a:bodyPr wrap="square" lIns="18288" tIns="18288" rIns="18288" bIns="18288" anchor="ctr">
            <a:spAutoFit/>
          </a:bodyPr>
          <a:lstStyle/>
          <a:p>
            <a:pPr>
              <a:spcBef>
                <a:spcPts val="0"/>
              </a:spcBef>
              <a:spcAft>
                <a:spcPts val="0"/>
              </a:spcAft>
            </a:pPr>
            <a:r>
              <a:rPr sz="2800" b="1">
                <a:solidFill>
                  <a:srgbClr val="13283F"/>
                </a:solidFill>
                <a:latin typeface="Aptos"/>
              </a:rPr>
              <a:t>Three leaders. Three decisions. One data foundation.</a:t>
            </a:r>
          </a:p>
        </p:txBody>
      </p:sp>
      <p:sp>
        <p:nvSpPr>
          <p:cNvPr id="6" name="TextBox 5"/>
          <p:cNvSpPr txBox="1"/>
          <p:nvPr/>
        </p:nvSpPr>
        <p:spPr>
          <a:xfrm>
            <a:off x="493776" y="1252728"/>
            <a:ext cx="11064240" cy="429768"/>
          </a:xfrm>
          <a:prstGeom prst="rect">
            <a:avLst/>
          </a:prstGeom>
          <a:noFill/>
        </p:spPr>
        <p:txBody>
          <a:bodyPr wrap="square" lIns="18288" tIns="18288" rIns="18288" bIns="18288" anchor="ctr">
            <a:spAutoFit/>
          </a:bodyPr>
          <a:lstStyle/>
          <a:p>
            <a:pPr>
              <a:spcBef>
                <a:spcPts val="0"/>
              </a:spcBef>
              <a:spcAft>
                <a:spcPts val="0"/>
              </a:spcAft>
            </a:pPr>
            <a:r>
              <a:rPr sz="1570" b="0">
                <a:solidFill>
                  <a:srgbClr val="63788C"/>
                </a:solidFill>
                <a:latin typeface="Aptos"/>
              </a:rPr>
              <a:t>Anchor every proposed capability to a user goal and an observable business outcome.</a:t>
            </a:r>
          </a:p>
        </p:txBody>
      </p:sp>
      <p:sp>
        <p:nvSpPr>
          <p:cNvPr id="7" name="TextBox 6"/>
          <p:cNvSpPr txBox="1"/>
          <p:nvPr/>
        </p:nvSpPr>
        <p:spPr>
          <a:xfrm>
            <a:off x="11274552" y="6437376"/>
            <a:ext cx="438912" cy="219456"/>
          </a:xfrm>
          <a:prstGeom prst="rect">
            <a:avLst/>
          </a:prstGeom>
          <a:noFill/>
        </p:spPr>
        <p:txBody>
          <a:bodyPr wrap="square" lIns="18288" tIns="18288" rIns="18288" bIns="18288" anchor="ctr">
            <a:spAutoFit/>
          </a:bodyPr>
          <a:lstStyle/>
          <a:p>
            <a:pPr algn="r">
              <a:spcBef>
                <a:spcPts val="0"/>
              </a:spcBef>
              <a:spcAft>
                <a:spcPts val="0"/>
              </a:spcAft>
            </a:pPr>
            <a:r>
              <a:rPr sz="1050" b="1">
                <a:solidFill>
                  <a:srgbClr val="63788C"/>
                </a:solidFill>
                <a:latin typeface="Aptos"/>
              </a:rPr>
              <a:t>03</a:t>
            </a:r>
          </a:p>
        </p:txBody>
      </p:sp>
      <p:sp>
        <p:nvSpPr>
          <p:cNvPr id="8" name="Rounded Rectangle 7"/>
          <p:cNvSpPr/>
          <p:nvPr/>
        </p:nvSpPr>
        <p:spPr>
          <a:xfrm>
            <a:off x="502920" y="1883664"/>
            <a:ext cx="3685032" cy="3986784"/>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83664"/>
            <a:ext cx="3685032" cy="100584"/>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121408"/>
            <a:ext cx="3200400" cy="283464"/>
          </a:xfrm>
          <a:prstGeom prst="rect">
            <a:avLst/>
          </a:prstGeom>
          <a:noFill/>
        </p:spPr>
        <p:txBody>
          <a:bodyPr wrap="square" lIns="18288" tIns="18288" rIns="18288" bIns="18288" anchor="ctr">
            <a:spAutoFit/>
          </a:bodyPr>
          <a:lstStyle/>
          <a:p>
            <a:pPr>
              <a:spcBef>
                <a:spcPts val="0"/>
              </a:spcBef>
              <a:spcAft>
                <a:spcPts val="0"/>
              </a:spcAft>
            </a:pPr>
            <a:r>
              <a:rPr sz="1510" b="1">
                <a:solidFill>
                  <a:srgbClr val="007E78"/>
                </a:solidFill>
                <a:latin typeface="Aptos"/>
              </a:rPr>
              <a:t>MEERA · COO</a:t>
            </a:r>
          </a:p>
        </p:txBody>
      </p:sp>
      <p:sp>
        <p:nvSpPr>
          <p:cNvPr id="11" name="TextBox 10"/>
          <p:cNvSpPr txBox="1"/>
          <p:nvPr/>
        </p:nvSpPr>
        <p:spPr>
          <a:xfrm>
            <a:off x="731520" y="2523744"/>
            <a:ext cx="3218688" cy="274320"/>
          </a:xfrm>
          <a:prstGeom prst="rect">
            <a:avLst/>
          </a:prstGeom>
          <a:noFill/>
        </p:spPr>
        <p:txBody>
          <a:bodyPr wrap="square" lIns="18288" tIns="18288" rIns="18288" bIns="18288" anchor="ctr">
            <a:spAutoFit/>
          </a:bodyPr>
          <a:lstStyle/>
          <a:p>
            <a:pPr>
              <a:spcBef>
                <a:spcPts val="0"/>
              </a:spcBef>
              <a:spcAft>
                <a:spcPts val="0"/>
              </a:spcAft>
            </a:pPr>
            <a:r>
              <a:rPr sz="1270" b="0">
                <a:solidFill>
                  <a:srgbClr val="63788C"/>
                </a:solidFill>
                <a:latin typeface="Aptos"/>
              </a:rPr>
              <a:t>Economic buyer</a:t>
            </a:r>
          </a:p>
        </p:txBody>
      </p:sp>
      <p:sp>
        <p:nvSpPr>
          <p:cNvPr id="12" name="TextBox 11"/>
          <p:cNvSpPr txBox="1"/>
          <p:nvPr/>
        </p:nvSpPr>
        <p:spPr>
          <a:xfrm>
            <a:off x="731520" y="2971800"/>
            <a:ext cx="3154680" cy="210312"/>
          </a:xfrm>
          <a:prstGeom prst="rect">
            <a:avLst/>
          </a:prstGeom>
          <a:noFill/>
        </p:spPr>
        <p:txBody>
          <a:bodyPr wrap="square" lIns="18288" tIns="18288" rIns="18288" bIns="18288" anchor="ctr">
            <a:spAutoFit/>
          </a:bodyPr>
          <a:lstStyle/>
          <a:p>
            <a:pPr>
              <a:spcBef>
                <a:spcPts val="0"/>
              </a:spcBef>
              <a:spcAft>
                <a:spcPts val="0"/>
              </a:spcAft>
            </a:pPr>
            <a:r>
              <a:rPr sz="1110" b="1">
                <a:solidFill>
                  <a:srgbClr val="63788C"/>
                </a:solidFill>
                <a:latin typeface="Aptos"/>
              </a:rPr>
              <a:t>GOAL</a:t>
            </a:r>
          </a:p>
        </p:txBody>
      </p:sp>
      <p:sp>
        <p:nvSpPr>
          <p:cNvPr id="13" name="TextBox 12"/>
          <p:cNvSpPr txBox="1"/>
          <p:nvPr/>
        </p:nvSpPr>
        <p:spPr>
          <a:xfrm>
            <a:off x="731520" y="3209544"/>
            <a:ext cx="3163824" cy="512064"/>
          </a:xfrm>
          <a:prstGeom prst="rect">
            <a:avLst/>
          </a:prstGeom>
          <a:noFill/>
        </p:spPr>
        <p:txBody>
          <a:bodyPr wrap="square" lIns="18288" tIns="18288" rIns="18288" bIns="18288" anchor="ctr">
            <a:spAutoFit/>
          </a:bodyPr>
          <a:lstStyle/>
          <a:p>
            <a:pPr>
              <a:spcBef>
                <a:spcPts val="0"/>
              </a:spcBef>
              <a:spcAft>
                <a:spcPts val="0"/>
              </a:spcAft>
            </a:pPr>
            <a:r>
              <a:rPr sz="1610" b="1">
                <a:solidFill>
                  <a:srgbClr val="13283F"/>
                </a:solidFill>
                <a:latin typeface="Aptos"/>
              </a:rPr>
              <a:t>Grow profitable revenue across 20 salons</a:t>
            </a:r>
          </a:p>
        </p:txBody>
      </p:sp>
      <p:sp>
        <p:nvSpPr>
          <p:cNvPr id="14" name="TextBox 13"/>
          <p:cNvSpPr txBox="1"/>
          <p:nvPr/>
        </p:nvSpPr>
        <p:spPr>
          <a:xfrm>
            <a:off x="731520" y="3886200"/>
            <a:ext cx="3154680" cy="210312"/>
          </a:xfrm>
          <a:prstGeom prst="rect">
            <a:avLst/>
          </a:prstGeom>
          <a:noFill/>
        </p:spPr>
        <p:txBody>
          <a:bodyPr wrap="square" lIns="18288" tIns="18288" rIns="18288" bIns="18288" anchor="ctr">
            <a:spAutoFit/>
          </a:bodyPr>
          <a:lstStyle/>
          <a:p>
            <a:pPr>
              <a:spcBef>
                <a:spcPts val="0"/>
              </a:spcBef>
              <a:spcAft>
                <a:spcPts val="0"/>
              </a:spcAft>
            </a:pPr>
            <a:r>
              <a:rPr sz="1110" b="1">
                <a:solidFill>
                  <a:srgbClr val="63788C"/>
                </a:solidFill>
                <a:latin typeface="Aptos"/>
              </a:rPr>
              <a:t>THE QUESTION</a:t>
            </a:r>
          </a:p>
        </p:txBody>
      </p:sp>
      <p:sp>
        <p:nvSpPr>
          <p:cNvPr id="15" name="TextBox 14"/>
          <p:cNvSpPr txBox="1"/>
          <p:nvPr/>
        </p:nvSpPr>
        <p:spPr>
          <a:xfrm>
            <a:off x="731520" y="4133087"/>
            <a:ext cx="3145536" cy="749808"/>
          </a:xfrm>
          <a:prstGeom prst="rect">
            <a:avLst/>
          </a:prstGeom>
          <a:noFill/>
        </p:spPr>
        <p:txBody>
          <a:bodyPr wrap="square" lIns="18288" tIns="18288" rIns="18288" bIns="18288" anchor="ctr">
            <a:spAutoFit/>
          </a:bodyPr>
          <a:lstStyle/>
          <a:p>
            <a:pPr>
              <a:spcBef>
                <a:spcPts val="0"/>
              </a:spcBef>
              <a:spcAft>
                <a:spcPts val="0"/>
              </a:spcAft>
            </a:pPr>
            <a:r>
              <a:rPr sz="1420" b="0">
                <a:solidFill>
                  <a:srgbClr val="172B45"/>
                </a:solidFill>
                <a:latin typeface="Aptos"/>
              </a:rPr>
              <a:t>“Is revenue down because visits fell, capacity sits idle, or costs increased?”</a:t>
            </a:r>
          </a:p>
        </p:txBody>
      </p:sp>
      <p:sp>
        <p:nvSpPr>
          <p:cNvPr id="16" name="TextBox 15"/>
          <p:cNvSpPr txBox="1"/>
          <p:nvPr/>
        </p:nvSpPr>
        <p:spPr>
          <a:xfrm>
            <a:off x="731520" y="5148072"/>
            <a:ext cx="3191256" cy="466344"/>
          </a:xfrm>
          <a:prstGeom prst="rect">
            <a:avLst/>
          </a:prstGeom>
          <a:noFill/>
        </p:spPr>
        <p:txBody>
          <a:bodyPr wrap="square" lIns="18288" tIns="18288" rIns="18288" bIns="18288" anchor="ctr">
            <a:spAutoFit/>
          </a:bodyPr>
          <a:lstStyle/>
          <a:p>
            <a:pPr>
              <a:spcBef>
                <a:spcPts val="0"/>
              </a:spcBef>
              <a:spcAft>
                <a:spcPts val="0"/>
              </a:spcAft>
            </a:pPr>
            <a:r>
              <a:rPr sz="1250" b="1">
                <a:solidFill>
                  <a:srgbClr val="007E78"/>
                </a:solidFill>
                <a:latin typeface="Aptos"/>
              </a:rPr>
              <a:t>NEEDS → Reliable variance explanation and tested financial impact</a:t>
            </a:r>
          </a:p>
        </p:txBody>
      </p:sp>
      <p:sp>
        <p:nvSpPr>
          <p:cNvPr id="17" name="Rounded Rectangle 16"/>
          <p:cNvSpPr/>
          <p:nvPr/>
        </p:nvSpPr>
        <p:spPr>
          <a:xfrm>
            <a:off x="4379976" y="1883664"/>
            <a:ext cx="3685032" cy="3986784"/>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79976" y="1883664"/>
            <a:ext cx="3685032" cy="100584"/>
          </a:xfrm>
          <a:prstGeom prst="rect">
            <a:avLst/>
          </a:prstGeom>
          <a:solidFill>
            <a:srgbClr val="1569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08576" y="2121408"/>
            <a:ext cx="3200400" cy="283464"/>
          </a:xfrm>
          <a:prstGeom prst="rect">
            <a:avLst/>
          </a:prstGeom>
          <a:noFill/>
        </p:spPr>
        <p:txBody>
          <a:bodyPr wrap="square" lIns="18288" tIns="18288" rIns="18288" bIns="18288" anchor="ctr">
            <a:spAutoFit/>
          </a:bodyPr>
          <a:lstStyle/>
          <a:p>
            <a:pPr>
              <a:spcBef>
                <a:spcPts val="0"/>
              </a:spcBef>
              <a:spcAft>
                <a:spcPts val="0"/>
              </a:spcAft>
            </a:pPr>
            <a:r>
              <a:rPr sz="1510" b="1">
                <a:solidFill>
                  <a:srgbClr val="1569C7"/>
                </a:solidFill>
                <a:latin typeface="Aptos"/>
              </a:rPr>
              <a:t>ARJUN · REGIONAL MANAGER</a:t>
            </a:r>
          </a:p>
        </p:txBody>
      </p:sp>
      <p:sp>
        <p:nvSpPr>
          <p:cNvPr id="20" name="TextBox 19"/>
          <p:cNvSpPr txBox="1"/>
          <p:nvPr/>
        </p:nvSpPr>
        <p:spPr>
          <a:xfrm>
            <a:off x="4608576" y="2523744"/>
            <a:ext cx="3218688" cy="274320"/>
          </a:xfrm>
          <a:prstGeom prst="rect">
            <a:avLst/>
          </a:prstGeom>
          <a:noFill/>
        </p:spPr>
        <p:txBody>
          <a:bodyPr wrap="square" lIns="18288" tIns="18288" rIns="18288" bIns="18288" anchor="ctr">
            <a:spAutoFit/>
          </a:bodyPr>
          <a:lstStyle/>
          <a:p>
            <a:pPr>
              <a:spcBef>
                <a:spcPts val="0"/>
              </a:spcBef>
              <a:spcAft>
                <a:spcPts val="0"/>
              </a:spcAft>
            </a:pPr>
            <a:r>
              <a:rPr sz="1270" b="0">
                <a:solidFill>
                  <a:srgbClr val="63788C"/>
                </a:solidFill>
                <a:latin typeface="Aptos"/>
              </a:rPr>
              <a:t>Daily decision-maker</a:t>
            </a:r>
          </a:p>
        </p:txBody>
      </p:sp>
      <p:sp>
        <p:nvSpPr>
          <p:cNvPr id="21" name="TextBox 20"/>
          <p:cNvSpPr txBox="1"/>
          <p:nvPr/>
        </p:nvSpPr>
        <p:spPr>
          <a:xfrm>
            <a:off x="4608576" y="2971800"/>
            <a:ext cx="3154680" cy="210312"/>
          </a:xfrm>
          <a:prstGeom prst="rect">
            <a:avLst/>
          </a:prstGeom>
          <a:noFill/>
        </p:spPr>
        <p:txBody>
          <a:bodyPr wrap="square" lIns="18288" tIns="18288" rIns="18288" bIns="18288" anchor="ctr">
            <a:spAutoFit/>
          </a:bodyPr>
          <a:lstStyle/>
          <a:p>
            <a:pPr>
              <a:spcBef>
                <a:spcPts val="0"/>
              </a:spcBef>
              <a:spcAft>
                <a:spcPts val="0"/>
              </a:spcAft>
            </a:pPr>
            <a:r>
              <a:rPr sz="1110" b="1">
                <a:solidFill>
                  <a:srgbClr val="63788C"/>
                </a:solidFill>
                <a:latin typeface="Aptos"/>
              </a:rPr>
              <a:t>GOAL</a:t>
            </a:r>
          </a:p>
        </p:txBody>
      </p:sp>
      <p:sp>
        <p:nvSpPr>
          <p:cNvPr id="22" name="TextBox 21"/>
          <p:cNvSpPr txBox="1"/>
          <p:nvPr/>
        </p:nvSpPr>
        <p:spPr>
          <a:xfrm>
            <a:off x="4608576" y="3209544"/>
            <a:ext cx="3163824" cy="512064"/>
          </a:xfrm>
          <a:prstGeom prst="rect">
            <a:avLst/>
          </a:prstGeom>
          <a:noFill/>
        </p:spPr>
        <p:txBody>
          <a:bodyPr wrap="square" lIns="18288" tIns="18288" rIns="18288" bIns="18288" anchor="ctr">
            <a:spAutoFit/>
          </a:bodyPr>
          <a:lstStyle/>
          <a:p>
            <a:pPr>
              <a:spcBef>
                <a:spcPts val="0"/>
              </a:spcBef>
              <a:spcAft>
                <a:spcPts val="0"/>
              </a:spcAft>
            </a:pPr>
            <a:r>
              <a:rPr sz="1610" b="1">
                <a:solidFill>
                  <a:srgbClr val="13283F"/>
                </a:solidFill>
                <a:latin typeface="Aptos"/>
              </a:rPr>
              <a:t>Improve repeat visits and utilization</a:t>
            </a:r>
          </a:p>
        </p:txBody>
      </p:sp>
      <p:sp>
        <p:nvSpPr>
          <p:cNvPr id="23" name="TextBox 22"/>
          <p:cNvSpPr txBox="1"/>
          <p:nvPr/>
        </p:nvSpPr>
        <p:spPr>
          <a:xfrm>
            <a:off x="4608576" y="3886200"/>
            <a:ext cx="3154680" cy="210312"/>
          </a:xfrm>
          <a:prstGeom prst="rect">
            <a:avLst/>
          </a:prstGeom>
          <a:noFill/>
        </p:spPr>
        <p:txBody>
          <a:bodyPr wrap="square" lIns="18288" tIns="18288" rIns="18288" bIns="18288" anchor="ctr">
            <a:spAutoFit/>
          </a:bodyPr>
          <a:lstStyle/>
          <a:p>
            <a:pPr>
              <a:spcBef>
                <a:spcPts val="0"/>
              </a:spcBef>
              <a:spcAft>
                <a:spcPts val="0"/>
              </a:spcAft>
            </a:pPr>
            <a:r>
              <a:rPr sz="1110" b="1">
                <a:solidFill>
                  <a:srgbClr val="63788C"/>
                </a:solidFill>
                <a:latin typeface="Aptos"/>
              </a:rPr>
              <a:t>THE QUESTION</a:t>
            </a:r>
          </a:p>
        </p:txBody>
      </p:sp>
      <p:sp>
        <p:nvSpPr>
          <p:cNvPr id="24" name="TextBox 23"/>
          <p:cNvSpPr txBox="1"/>
          <p:nvPr/>
        </p:nvSpPr>
        <p:spPr>
          <a:xfrm>
            <a:off x="4608576" y="4133087"/>
            <a:ext cx="3145536" cy="749808"/>
          </a:xfrm>
          <a:prstGeom prst="rect">
            <a:avLst/>
          </a:prstGeom>
          <a:noFill/>
        </p:spPr>
        <p:txBody>
          <a:bodyPr wrap="square" lIns="18288" tIns="18288" rIns="18288" bIns="18288" anchor="ctr">
            <a:spAutoFit/>
          </a:bodyPr>
          <a:lstStyle/>
          <a:p>
            <a:pPr>
              <a:spcBef>
                <a:spcPts val="0"/>
              </a:spcBef>
              <a:spcAft>
                <a:spcPts val="0"/>
              </a:spcAft>
            </a:pPr>
            <a:r>
              <a:rPr sz="1420" b="0">
                <a:solidFill>
                  <a:srgbClr val="172B45"/>
                </a:solidFill>
                <a:latin typeface="Aptos"/>
              </a:rPr>
              <a:t>“Which locations need action this week—and what do I do?”</a:t>
            </a:r>
          </a:p>
        </p:txBody>
      </p:sp>
      <p:sp>
        <p:nvSpPr>
          <p:cNvPr id="25" name="TextBox 24"/>
          <p:cNvSpPr txBox="1"/>
          <p:nvPr/>
        </p:nvSpPr>
        <p:spPr>
          <a:xfrm>
            <a:off x="4608576" y="5148072"/>
            <a:ext cx="3191256" cy="466344"/>
          </a:xfrm>
          <a:prstGeom prst="rect">
            <a:avLst/>
          </a:prstGeom>
          <a:noFill/>
        </p:spPr>
        <p:txBody>
          <a:bodyPr wrap="square" lIns="18288" tIns="18288" rIns="18288" bIns="18288" anchor="ctr">
            <a:spAutoFit/>
          </a:bodyPr>
          <a:lstStyle/>
          <a:p>
            <a:pPr>
              <a:spcBef>
                <a:spcPts val="0"/>
              </a:spcBef>
              <a:spcAft>
                <a:spcPts val="0"/>
              </a:spcAft>
            </a:pPr>
            <a:r>
              <a:rPr sz="1250" b="1">
                <a:solidFill>
                  <a:srgbClr val="1569C7"/>
                </a:solidFill>
                <a:latin typeface="Aptos"/>
              </a:rPr>
              <a:t>NEEDS → Prioritized exceptions, a saved Monday view, clear owner</a:t>
            </a:r>
          </a:p>
        </p:txBody>
      </p:sp>
      <p:sp>
        <p:nvSpPr>
          <p:cNvPr id="26" name="Rounded Rectangle 25"/>
          <p:cNvSpPr/>
          <p:nvPr/>
        </p:nvSpPr>
        <p:spPr>
          <a:xfrm>
            <a:off x="8257032" y="1883664"/>
            <a:ext cx="3685032" cy="3986784"/>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57032" y="1883664"/>
            <a:ext cx="3685032" cy="100584"/>
          </a:xfrm>
          <a:prstGeom prst="rect">
            <a:avLst/>
          </a:prstGeom>
          <a:solidFill>
            <a:srgbClr val="B568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85632" y="2121408"/>
            <a:ext cx="3200400" cy="283464"/>
          </a:xfrm>
          <a:prstGeom prst="rect">
            <a:avLst/>
          </a:prstGeom>
          <a:noFill/>
        </p:spPr>
        <p:txBody>
          <a:bodyPr wrap="square" lIns="18288" tIns="18288" rIns="18288" bIns="18288" anchor="ctr">
            <a:spAutoFit/>
          </a:bodyPr>
          <a:lstStyle/>
          <a:p>
            <a:pPr>
              <a:spcBef>
                <a:spcPts val="0"/>
              </a:spcBef>
              <a:spcAft>
                <a:spcPts val="0"/>
              </a:spcAft>
            </a:pPr>
            <a:r>
              <a:rPr sz="1510" b="1">
                <a:solidFill>
                  <a:srgbClr val="B56812"/>
                </a:solidFill>
                <a:latin typeface="Aptos"/>
              </a:rPr>
              <a:t>NEHA · CUSTOMER ADMIN</a:t>
            </a:r>
          </a:p>
        </p:txBody>
      </p:sp>
      <p:sp>
        <p:nvSpPr>
          <p:cNvPr id="29" name="TextBox 28"/>
          <p:cNvSpPr txBox="1"/>
          <p:nvPr/>
        </p:nvSpPr>
        <p:spPr>
          <a:xfrm>
            <a:off x="8485632" y="2523744"/>
            <a:ext cx="3218688" cy="274320"/>
          </a:xfrm>
          <a:prstGeom prst="rect">
            <a:avLst/>
          </a:prstGeom>
          <a:noFill/>
        </p:spPr>
        <p:txBody>
          <a:bodyPr wrap="square" lIns="18288" tIns="18288" rIns="18288" bIns="18288" anchor="ctr">
            <a:spAutoFit/>
          </a:bodyPr>
          <a:lstStyle/>
          <a:p>
            <a:pPr>
              <a:spcBef>
                <a:spcPts val="0"/>
              </a:spcBef>
              <a:spcAft>
                <a:spcPts val="0"/>
              </a:spcAft>
            </a:pPr>
            <a:r>
              <a:rPr sz="1270" b="0">
                <a:solidFill>
                  <a:srgbClr val="63788C"/>
                </a:solidFill>
                <a:latin typeface="Aptos"/>
              </a:rPr>
              <a:t>Control owner</a:t>
            </a:r>
          </a:p>
        </p:txBody>
      </p:sp>
      <p:sp>
        <p:nvSpPr>
          <p:cNvPr id="30" name="TextBox 29"/>
          <p:cNvSpPr txBox="1"/>
          <p:nvPr/>
        </p:nvSpPr>
        <p:spPr>
          <a:xfrm>
            <a:off x="8485632" y="2971800"/>
            <a:ext cx="3154680" cy="210312"/>
          </a:xfrm>
          <a:prstGeom prst="rect">
            <a:avLst/>
          </a:prstGeom>
          <a:noFill/>
        </p:spPr>
        <p:txBody>
          <a:bodyPr wrap="square" lIns="18288" tIns="18288" rIns="18288" bIns="18288" anchor="ctr">
            <a:spAutoFit/>
          </a:bodyPr>
          <a:lstStyle/>
          <a:p>
            <a:pPr>
              <a:spcBef>
                <a:spcPts val="0"/>
              </a:spcBef>
              <a:spcAft>
                <a:spcPts val="0"/>
              </a:spcAft>
            </a:pPr>
            <a:r>
              <a:rPr sz="1110" b="1">
                <a:solidFill>
                  <a:srgbClr val="63788C"/>
                </a:solidFill>
                <a:latin typeface="Aptos"/>
              </a:rPr>
              <a:t>GOAL</a:t>
            </a:r>
          </a:p>
        </p:txBody>
      </p:sp>
      <p:sp>
        <p:nvSpPr>
          <p:cNvPr id="31" name="TextBox 30"/>
          <p:cNvSpPr txBox="1"/>
          <p:nvPr/>
        </p:nvSpPr>
        <p:spPr>
          <a:xfrm>
            <a:off x="8485632" y="3209544"/>
            <a:ext cx="3163824" cy="512064"/>
          </a:xfrm>
          <a:prstGeom prst="rect">
            <a:avLst/>
          </a:prstGeom>
          <a:noFill/>
        </p:spPr>
        <p:txBody>
          <a:bodyPr wrap="square" lIns="18288" tIns="18288" rIns="18288" bIns="18288" anchor="ctr">
            <a:spAutoFit/>
          </a:bodyPr>
          <a:lstStyle/>
          <a:p>
            <a:pPr>
              <a:spcBef>
                <a:spcPts val="0"/>
              </a:spcBef>
              <a:spcAft>
                <a:spcPts val="0"/>
              </a:spcAft>
            </a:pPr>
            <a:r>
              <a:rPr sz="1610" b="1">
                <a:solidFill>
                  <a:srgbClr val="13283F"/>
                </a:solidFill>
                <a:latin typeface="Aptos"/>
              </a:rPr>
              <a:t>Protect data and make AI spend predictable</a:t>
            </a:r>
          </a:p>
        </p:txBody>
      </p:sp>
      <p:sp>
        <p:nvSpPr>
          <p:cNvPr id="32" name="TextBox 31"/>
          <p:cNvSpPr txBox="1"/>
          <p:nvPr/>
        </p:nvSpPr>
        <p:spPr>
          <a:xfrm>
            <a:off x="8485632" y="3886200"/>
            <a:ext cx="3154680" cy="210312"/>
          </a:xfrm>
          <a:prstGeom prst="rect">
            <a:avLst/>
          </a:prstGeom>
          <a:noFill/>
        </p:spPr>
        <p:txBody>
          <a:bodyPr wrap="square" lIns="18288" tIns="18288" rIns="18288" bIns="18288" anchor="ctr">
            <a:spAutoFit/>
          </a:bodyPr>
          <a:lstStyle/>
          <a:p>
            <a:pPr>
              <a:spcBef>
                <a:spcPts val="0"/>
              </a:spcBef>
              <a:spcAft>
                <a:spcPts val="0"/>
              </a:spcAft>
            </a:pPr>
            <a:r>
              <a:rPr sz="1110" b="1">
                <a:solidFill>
                  <a:srgbClr val="63788C"/>
                </a:solidFill>
                <a:latin typeface="Aptos"/>
              </a:rPr>
              <a:t>THE QUESTION</a:t>
            </a:r>
          </a:p>
        </p:txBody>
      </p:sp>
      <p:sp>
        <p:nvSpPr>
          <p:cNvPr id="33" name="TextBox 32"/>
          <p:cNvSpPr txBox="1"/>
          <p:nvPr/>
        </p:nvSpPr>
        <p:spPr>
          <a:xfrm>
            <a:off x="8485632" y="4133087"/>
            <a:ext cx="3145536" cy="749808"/>
          </a:xfrm>
          <a:prstGeom prst="rect">
            <a:avLst/>
          </a:prstGeom>
          <a:noFill/>
        </p:spPr>
        <p:txBody>
          <a:bodyPr wrap="square" lIns="18288" tIns="18288" rIns="18288" bIns="18288" anchor="ctr">
            <a:spAutoFit/>
          </a:bodyPr>
          <a:lstStyle/>
          <a:p>
            <a:pPr>
              <a:spcBef>
                <a:spcPts val="0"/>
              </a:spcBef>
              <a:spcAft>
                <a:spcPts val="0"/>
              </a:spcAft>
            </a:pPr>
            <a:r>
              <a:rPr sz="1420" b="0">
                <a:solidFill>
                  <a:srgbClr val="172B45"/>
                </a:solidFill>
                <a:latin typeface="Aptos"/>
              </a:rPr>
              <a:t>“Who can schedule, share, or receive sensitive insights?”</a:t>
            </a:r>
          </a:p>
        </p:txBody>
      </p:sp>
      <p:sp>
        <p:nvSpPr>
          <p:cNvPr id="34" name="TextBox 33"/>
          <p:cNvSpPr txBox="1"/>
          <p:nvPr/>
        </p:nvSpPr>
        <p:spPr>
          <a:xfrm>
            <a:off x="8485632" y="5148072"/>
            <a:ext cx="3191256" cy="466344"/>
          </a:xfrm>
          <a:prstGeom prst="rect">
            <a:avLst/>
          </a:prstGeom>
          <a:noFill/>
        </p:spPr>
        <p:txBody>
          <a:bodyPr wrap="square" lIns="18288" tIns="18288" rIns="18288" bIns="18288" anchor="ctr">
            <a:spAutoFit/>
          </a:bodyPr>
          <a:lstStyle/>
          <a:p>
            <a:pPr>
              <a:spcBef>
                <a:spcPts val="0"/>
              </a:spcBef>
              <a:spcAft>
                <a:spcPts val="0"/>
              </a:spcAft>
            </a:pPr>
            <a:r>
              <a:rPr sz="1250" b="1">
                <a:solidFill>
                  <a:srgbClr val="B56812"/>
                </a:solidFill>
                <a:latin typeface="Aptos"/>
              </a:rPr>
              <a:t>NEEDS → Scoped permissions, delivery policy, token-cost monitoring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84632" y="228600"/>
            <a:ext cx="10058400" cy="274320"/>
          </a:xfrm>
          <a:prstGeom prst="rect">
            <a:avLst/>
          </a:prstGeom>
          <a:noFill/>
        </p:spPr>
        <p:txBody>
          <a:bodyPr wrap="square" lIns="18288" tIns="18288" rIns="18288" bIns="18288" anchor="ctr">
            <a:spAutoFit/>
          </a:bodyPr>
          <a:lstStyle/>
          <a:p>
            <a:pPr>
              <a:spcBef>
                <a:spcPts val="0"/>
              </a:spcBef>
              <a:spcAft>
                <a:spcPts val="0"/>
              </a:spcAft>
            </a:pPr>
            <a:r>
              <a:rPr sz="1120" b="1">
                <a:solidFill>
                  <a:srgbClr val="007E78"/>
                </a:solidFill>
                <a:latin typeface="Aptos"/>
              </a:rPr>
              <a:t>MEERA · COMMERCIAL OPPORTUNITY</a:t>
            </a:r>
          </a:p>
        </p:txBody>
      </p:sp>
      <p:sp>
        <p:nvSpPr>
          <p:cNvPr id="5" name="TextBox 4"/>
          <p:cNvSpPr txBox="1"/>
          <p:nvPr/>
        </p:nvSpPr>
        <p:spPr>
          <a:xfrm>
            <a:off x="484632" y="667512"/>
            <a:ext cx="11155680" cy="502920"/>
          </a:xfrm>
          <a:prstGeom prst="rect">
            <a:avLst/>
          </a:prstGeom>
          <a:noFill/>
        </p:spPr>
        <p:txBody>
          <a:bodyPr wrap="square" lIns="18288" tIns="18288" rIns="18288" bIns="18288" anchor="ctr">
            <a:spAutoFit/>
          </a:bodyPr>
          <a:lstStyle/>
          <a:p>
            <a:pPr>
              <a:spcBef>
                <a:spcPts val="0"/>
              </a:spcBef>
              <a:spcAft>
                <a:spcPts val="0"/>
              </a:spcAft>
            </a:pPr>
            <a:r>
              <a:rPr sz="2800" b="1">
                <a:solidFill>
                  <a:srgbClr val="13283F"/>
                </a:solidFill>
                <a:latin typeface="Aptos"/>
              </a:rPr>
              <a:t>Price the solved problem—not the size of the AI hype</a:t>
            </a:r>
          </a:p>
        </p:txBody>
      </p:sp>
      <p:sp>
        <p:nvSpPr>
          <p:cNvPr id="6" name="TextBox 5"/>
          <p:cNvSpPr txBox="1"/>
          <p:nvPr/>
        </p:nvSpPr>
        <p:spPr>
          <a:xfrm>
            <a:off x="493776" y="1252728"/>
            <a:ext cx="11064240" cy="429768"/>
          </a:xfrm>
          <a:prstGeom prst="rect">
            <a:avLst/>
          </a:prstGeom>
          <a:noFill/>
        </p:spPr>
        <p:txBody>
          <a:bodyPr wrap="square" lIns="18288" tIns="18288" rIns="18288" bIns="18288" anchor="ctr">
            <a:spAutoFit/>
          </a:bodyPr>
          <a:lstStyle/>
          <a:p>
            <a:pPr>
              <a:spcBef>
                <a:spcPts val="0"/>
              </a:spcBef>
              <a:spcAft>
                <a:spcPts val="0"/>
              </a:spcAft>
            </a:pPr>
            <a:r>
              <a:rPr sz="1570" b="0">
                <a:solidFill>
                  <a:srgbClr val="63788C"/>
                </a:solidFill>
                <a:latin typeface="Aptos"/>
              </a:rPr>
              <a:t>A published software market frames the category; eligible enterprise buyers determine the data-product opportunity.</a:t>
            </a:r>
          </a:p>
        </p:txBody>
      </p:sp>
      <p:sp>
        <p:nvSpPr>
          <p:cNvPr id="7" name="TextBox 6"/>
          <p:cNvSpPr txBox="1"/>
          <p:nvPr/>
        </p:nvSpPr>
        <p:spPr>
          <a:xfrm>
            <a:off x="11274552" y="6437376"/>
            <a:ext cx="438912" cy="219456"/>
          </a:xfrm>
          <a:prstGeom prst="rect">
            <a:avLst/>
          </a:prstGeom>
          <a:noFill/>
        </p:spPr>
        <p:txBody>
          <a:bodyPr wrap="square" lIns="18288" tIns="18288" rIns="18288" bIns="18288" anchor="ctr">
            <a:spAutoFit/>
          </a:bodyPr>
          <a:lstStyle/>
          <a:p>
            <a:pPr algn="r">
              <a:spcBef>
                <a:spcPts val="0"/>
              </a:spcBef>
              <a:spcAft>
                <a:spcPts val="0"/>
              </a:spcAft>
            </a:pPr>
            <a:r>
              <a:rPr sz="1050" b="1">
                <a:solidFill>
                  <a:srgbClr val="63788C"/>
                </a:solidFill>
                <a:latin typeface="Aptos"/>
              </a:rPr>
              <a:t>04</a:t>
            </a:r>
          </a:p>
        </p:txBody>
      </p:sp>
      <p:sp>
        <p:nvSpPr>
          <p:cNvPr id="8" name="Rounded Rectangle 7"/>
          <p:cNvSpPr/>
          <p:nvPr/>
        </p:nvSpPr>
        <p:spPr>
          <a:xfrm>
            <a:off x="502920" y="1865376"/>
            <a:ext cx="3209544" cy="3328416"/>
          </a:xfrm>
          <a:prstGeom prst="roundRect">
            <a:avLst/>
          </a:prstGeom>
          <a:solidFill>
            <a:srgbClr val="13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2075688"/>
            <a:ext cx="2624328" cy="265176"/>
          </a:xfrm>
          <a:prstGeom prst="rect">
            <a:avLst/>
          </a:prstGeom>
          <a:noFill/>
        </p:spPr>
        <p:txBody>
          <a:bodyPr wrap="square" lIns="18288" tIns="18288" rIns="18288" bIns="18288" anchor="ctr">
            <a:spAutoFit/>
          </a:bodyPr>
          <a:lstStyle/>
          <a:p>
            <a:pPr>
              <a:spcBef>
                <a:spcPts val="0"/>
              </a:spcBef>
              <a:spcAft>
                <a:spcPts val="0"/>
              </a:spcAft>
            </a:pPr>
            <a:r>
              <a:rPr sz="1300" b="1">
                <a:solidFill>
                  <a:srgbClr val="A6DDD8"/>
                </a:solidFill>
                <a:latin typeface="Aptos"/>
              </a:rPr>
              <a:t>PUBLISHED CONTEXT</a:t>
            </a:r>
          </a:p>
        </p:txBody>
      </p:sp>
      <p:sp>
        <p:nvSpPr>
          <p:cNvPr id="10" name="TextBox 9"/>
          <p:cNvSpPr txBox="1"/>
          <p:nvPr/>
        </p:nvSpPr>
        <p:spPr>
          <a:xfrm>
            <a:off x="658368" y="2523744"/>
            <a:ext cx="2688336" cy="777240"/>
          </a:xfrm>
          <a:prstGeom prst="rect">
            <a:avLst/>
          </a:prstGeom>
          <a:noFill/>
        </p:spPr>
        <p:txBody>
          <a:bodyPr wrap="square" lIns="18288" tIns="18288" rIns="18288" bIns="18288" anchor="ctr">
            <a:spAutoFit/>
          </a:bodyPr>
          <a:lstStyle/>
          <a:p>
            <a:pPr>
              <a:spcBef>
                <a:spcPts val="0"/>
              </a:spcBef>
              <a:spcAft>
                <a:spcPts val="0"/>
              </a:spcAft>
            </a:pPr>
            <a:r>
              <a:rPr sz="3750" b="1">
                <a:solidFill>
                  <a:srgbClr val="FFFFFF"/>
                </a:solidFill>
                <a:latin typeface="Aptos"/>
              </a:rPr>
              <a:t>$1.12B</a:t>
            </a:r>
          </a:p>
        </p:txBody>
      </p:sp>
      <p:sp>
        <p:nvSpPr>
          <p:cNvPr id="11" name="TextBox 10"/>
          <p:cNvSpPr txBox="1"/>
          <p:nvPr/>
        </p:nvSpPr>
        <p:spPr>
          <a:xfrm>
            <a:off x="704088" y="3429000"/>
            <a:ext cx="2660904" cy="914400"/>
          </a:xfrm>
          <a:prstGeom prst="rect">
            <a:avLst/>
          </a:prstGeom>
          <a:noFill/>
        </p:spPr>
        <p:txBody>
          <a:bodyPr wrap="square" lIns="18288" tIns="18288" rIns="18288" bIns="18288" anchor="ctr">
            <a:spAutoFit/>
          </a:bodyPr>
          <a:lstStyle/>
          <a:p>
            <a:pPr>
              <a:spcBef>
                <a:spcPts val="0"/>
              </a:spcBef>
              <a:spcAft>
                <a:spcPts val="0"/>
              </a:spcAft>
            </a:pPr>
            <a:r>
              <a:rPr sz="1800" b="0">
                <a:solidFill>
                  <a:srgbClr val="FFFFFF"/>
                </a:solidFill>
                <a:latin typeface="Aptos"/>
              </a:rPr>
              <a:t>2026 global spa &amp; salon software market</a:t>
            </a:r>
          </a:p>
        </p:txBody>
      </p:sp>
      <p:sp>
        <p:nvSpPr>
          <p:cNvPr id="12" name="Rounded Rectangle 11"/>
          <p:cNvSpPr/>
          <p:nvPr/>
        </p:nvSpPr>
        <p:spPr>
          <a:xfrm>
            <a:off x="667512" y="4690872"/>
            <a:ext cx="2432304" cy="3291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2" y="4745736"/>
            <a:ext cx="2286000" cy="201168"/>
          </a:xfrm>
          <a:prstGeom prst="rect">
            <a:avLst/>
          </a:prstGeom>
          <a:noFill/>
        </p:spPr>
        <p:txBody>
          <a:bodyPr wrap="square" lIns="18288" tIns="18288" rIns="18288" bIns="18288" anchor="ctr">
            <a:spAutoFit/>
          </a:bodyPr>
          <a:lstStyle/>
          <a:p>
            <a:pPr>
              <a:spcBef>
                <a:spcPts val="0"/>
              </a:spcBef>
              <a:spcAft>
                <a:spcPts val="0"/>
              </a:spcAft>
            </a:pPr>
            <a:r>
              <a:rPr sz="1060" b="1">
                <a:solidFill>
                  <a:srgbClr val="1569C7"/>
                </a:solidFill>
                <a:latin typeface="Aptos"/>
                <a:hlinkClick r:id="rId3"/>
              </a:rPr>
              <a:t>Market source ↗</a:t>
            </a:r>
          </a:p>
        </p:txBody>
      </p:sp>
      <p:sp>
        <p:nvSpPr>
          <p:cNvPr id="14" name="Rounded Rectangle 13"/>
          <p:cNvSpPr/>
          <p:nvPr/>
        </p:nvSpPr>
        <p:spPr>
          <a:xfrm>
            <a:off x="3922776" y="1865376"/>
            <a:ext cx="2414016" cy="3328416"/>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78224" y="2130552"/>
            <a:ext cx="2130552" cy="384048"/>
          </a:xfrm>
          <a:prstGeom prst="rect">
            <a:avLst/>
          </a:prstGeom>
          <a:noFill/>
        </p:spPr>
        <p:txBody>
          <a:bodyPr wrap="square" lIns="18288" tIns="18288" rIns="18288" bIns="18288" anchor="ctr">
            <a:spAutoFit/>
          </a:bodyPr>
          <a:lstStyle/>
          <a:p>
            <a:pPr>
              <a:spcBef>
                <a:spcPts val="0"/>
              </a:spcBef>
              <a:spcAft>
                <a:spcPts val="0"/>
              </a:spcAft>
            </a:pPr>
            <a:r>
              <a:rPr sz="1200" b="1">
                <a:solidFill>
                  <a:srgbClr val="007E78"/>
                </a:solidFill>
                <a:latin typeface="Aptos"/>
              </a:rPr>
              <a:t>TAM · SCENARIO</a:t>
            </a:r>
          </a:p>
        </p:txBody>
      </p:sp>
      <p:sp>
        <p:nvSpPr>
          <p:cNvPr id="16" name="TextBox 15"/>
          <p:cNvSpPr txBox="1"/>
          <p:nvPr/>
        </p:nvSpPr>
        <p:spPr>
          <a:xfrm>
            <a:off x="4059936" y="2770632"/>
            <a:ext cx="2093976" cy="603504"/>
          </a:xfrm>
          <a:prstGeom prst="rect">
            <a:avLst/>
          </a:prstGeom>
          <a:noFill/>
        </p:spPr>
        <p:txBody>
          <a:bodyPr wrap="square" lIns="18288" tIns="18288" rIns="18288" bIns="18288" anchor="ctr">
            <a:spAutoFit/>
          </a:bodyPr>
          <a:lstStyle/>
          <a:p>
            <a:pPr>
              <a:spcBef>
                <a:spcPts val="0"/>
              </a:spcBef>
              <a:spcAft>
                <a:spcPts val="0"/>
              </a:spcAft>
            </a:pPr>
            <a:r>
              <a:rPr sz="2600" b="1">
                <a:solidFill>
                  <a:srgbClr val="13283F"/>
                </a:solidFill>
                <a:latin typeface="Aptos"/>
              </a:rPr>
              <a:t>$54M</a:t>
            </a:r>
          </a:p>
        </p:txBody>
      </p:sp>
      <p:sp>
        <p:nvSpPr>
          <p:cNvPr id="17" name="TextBox 16"/>
          <p:cNvSpPr txBox="1"/>
          <p:nvPr/>
        </p:nvSpPr>
        <p:spPr>
          <a:xfrm>
            <a:off x="4078224" y="3611880"/>
            <a:ext cx="2048256" cy="292608"/>
          </a:xfrm>
          <a:prstGeom prst="rect">
            <a:avLst/>
          </a:prstGeom>
          <a:noFill/>
        </p:spPr>
        <p:txBody>
          <a:bodyPr wrap="square" lIns="18288" tIns="18288" rIns="18288" bIns="18288" anchor="ctr">
            <a:spAutoFit/>
          </a:bodyPr>
          <a:lstStyle/>
          <a:p>
            <a:pPr>
              <a:spcBef>
                <a:spcPts val="0"/>
              </a:spcBef>
              <a:spcAft>
                <a:spcPts val="0"/>
              </a:spcAft>
            </a:pPr>
            <a:r>
              <a:rPr sz="1570" b="1">
                <a:solidFill>
                  <a:srgbClr val="172B45"/>
                </a:solidFill>
                <a:latin typeface="Aptos"/>
              </a:rPr>
              <a:t>3,000 × $18K</a:t>
            </a:r>
          </a:p>
        </p:txBody>
      </p:sp>
      <p:sp>
        <p:nvSpPr>
          <p:cNvPr id="18" name="TextBox 17"/>
          <p:cNvSpPr txBox="1"/>
          <p:nvPr/>
        </p:nvSpPr>
        <p:spPr>
          <a:xfrm>
            <a:off x="4078224" y="4087368"/>
            <a:ext cx="2048256" cy="704088"/>
          </a:xfrm>
          <a:prstGeom prst="rect">
            <a:avLst/>
          </a:prstGeom>
          <a:noFill/>
        </p:spPr>
        <p:txBody>
          <a:bodyPr wrap="square" lIns="18288" tIns="18288" rIns="18288" bIns="18288" anchor="ctr">
            <a:spAutoFit/>
          </a:bodyPr>
          <a:lstStyle/>
          <a:p>
            <a:pPr>
              <a:spcBef>
                <a:spcPts val="0"/>
              </a:spcBef>
              <a:spcAft>
                <a:spcPts val="0"/>
              </a:spcAft>
            </a:pPr>
            <a:r>
              <a:rPr sz="1330" b="0">
                <a:solidFill>
                  <a:srgbClr val="63788C"/>
                </a:solidFill>
                <a:latin typeface="Aptos"/>
              </a:rPr>
              <a:t>All modeled eligible organizations</a:t>
            </a:r>
          </a:p>
        </p:txBody>
      </p:sp>
      <p:sp>
        <p:nvSpPr>
          <p:cNvPr id="19" name="Rounded Rectangle 18"/>
          <p:cNvSpPr/>
          <p:nvPr/>
        </p:nvSpPr>
        <p:spPr>
          <a:xfrm>
            <a:off x="6537960" y="1865376"/>
            <a:ext cx="2414016" cy="3328416"/>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93408" y="2130552"/>
            <a:ext cx="2130552" cy="384048"/>
          </a:xfrm>
          <a:prstGeom prst="rect">
            <a:avLst/>
          </a:prstGeom>
          <a:noFill/>
        </p:spPr>
        <p:txBody>
          <a:bodyPr wrap="square" lIns="18288" tIns="18288" rIns="18288" bIns="18288" anchor="ctr">
            <a:spAutoFit/>
          </a:bodyPr>
          <a:lstStyle/>
          <a:p>
            <a:pPr>
              <a:spcBef>
                <a:spcPts val="0"/>
              </a:spcBef>
              <a:spcAft>
                <a:spcPts val="0"/>
              </a:spcAft>
            </a:pPr>
            <a:r>
              <a:rPr sz="1200" b="1">
                <a:solidFill>
                  <a:srgbClr val="007E78"/>
                </a:solidFill>
                <a:latin typeface="Aptos"/>
              </a:rPr>
              <a:t>SAM · SCENARIO</a:t>
            </a:r>
          </a:p>
        </p:txBody>
      </p:sp>
      <p:sp>
        <p:nvSpPr>
          <p:cNvPr id="21" name="TextBox 20"/>
          <p:cNvSpPr txBox="1"/>
          <p:nvPr/>
        </p:nvSpPr>
        <p:spPr>
          <a:xfrm>
            <a:off x="6675120" y="2770632"/>
            <a:ext cx="2093976" cy="603504"/>
          </a:xfrm>
          <a:prstGeom prst="rect">
            <a:avLst/>
          </a:prstGeom>
          <a:noFill/>
        </p:spPr>
        <p:txBody>
          <a:bodyPr wrap="square" lIns="18288" tIns="18288" rIns="18288" bIns="18288" anchor="ctr">
            <a:spAutoFit/>
          </a:bodyPr>
          <a:lstStyle/>
          <a:p>
            <a:pPr>
              <a:spcBef>
                <a:spcPts val="0"/>
              </a:spcBef>
              <a:spcAft>
                <a:spcPts val="0"/>
              </a:spcAft>
            </a:pPr>
            <a:r>
              <a:rPr sz="2600" b="1">
                <a:solidFill>
                  <a:srgbClr val="13283F"/>
                </a:solidFill>
                <a:latin typeface="Aptos"/>
              </a:rPr>
              <a:t>$13.5M</a:t>
            </a:r>
          </a:p>
        </p:txBody>
      </p:sp>
      <p:sp>
        <p:nvSpPr>
          <p:cNvPr id="22" name="TextBox 21"/>
          <p:cNvSpPr txBox="1"/>
          <p:nvPr/>
        </p:nvSpPr>
        <p:spPr>
          <a:xfrm>
            <a:off x="6693408" y="3611880"/>
            <a:ext cx="2048256" cy="292608"/>
          </a:xfrm>
          <a:prstGeom prst="rect">
            <a:avLst/>
          </a:prstGeom>
          <a:noFill/>
        </p:spPr>
        <p:txBody>
          <a:bodyPr wrap="square" lIns="18288" tIns="18288" rIns="18288" bIns="18288" anchor="ctr">
            <a:spAutoFit/>
          </a:bodyPr>
          <a:lstStyle/>
          <a:p>
            <a:pPr>
              <a:spcBef>
                <a:spcPts val="0"/>
              </a:spcBef>
              <a:spcAft>
                <a:spcPts val="0"/>
              </a:spcAft>
            </a:pPr>
            <a:r>
              <a:rPr sz="1570" b="1">
                <a:solidFill>
                  <a:srgbClr val="172B45"/>
                </a:solidFill>
                <a:latin typeface="Aptos"/>
              </a:rPr>
              <a:t>750 × $18K</a:t>
            </a:r>
          </a:p>
        </p:txBody>
      </p:sp>
      <p:sp>
        <p:nvSpPr>
          <p:cNvPr id="23" name="TextBox 22"/>
          <p:cNvSpPr txBox="1"/>
          <p:nvPr/>
        </p:nvSpPr>
        <p:spPr>
          <a:xfrm>
            <a:off x="6693408" y="4087368"/>
            <a:ext cx="2048256" cy="704088"/>
          </a:xfrm>
          <a:prstGeom prst="rect">
            <a:avLst/>
          </a:prstGeom>
          <a:noFill/>
        </p:spPr>
        <p:txBody>
          <a:bodyPr wrap="square" lIns="18288" tIns="18288" rIns="18288" bIns="18288" anchor="ctr">
            <a:spAutoFit/>
          </a:bodyPr>
          <a:lstStyle/>
          <a:p>
            <a:pPr>
              <a:spcBef>
                <a:spcPts val="0"/>
              </a:spcBef>
              <a:spcAft>
                <a:spcPts val="0"/>
              </a:spcAft>
            </a:pPr>
            <a:r>
              <a:rPr sz="1330" b="0">
                <a:solidFill>
                  <a:srgbClr val="63788C"/>
                </a:solidFill>
                <a:latin typeface="Aptos"/>
              </a:rPr>
              <a:t>Organizations Zenoti could target</a:t>
            </a:r>
          </a:p>
        </p:txBody>
      </p:sp>
      <p:sp>
        <p:nvSpPr>
          <p:cNvPr id="24" name="Rounded Rectangle 23"/>
          <p:cNvSpPr/>
          <p:nvPr/>
        </p:nvSpPr>
        <p:spPr>
          <a:xfrm>
            <a:off x="9153144" y="1865376"/>
            <a:ext cx="2414016" cy="3328416"/>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08592" y="2130552"/>
            <a:ext cx="2130552" cy="384048"/>
          </a:xfrm>
          <a:prstGeom prst="rect">
            <a:avLst/>
          </a:prstGeom>
          <a:noFill/>
        </p:spPr>
        <p:txBody>
          <a:bodyPr wrap="square" lIns="18288" tIns="18288" rIns="18288" bIns="18288" anchor="ctr">
            <a:spAutoFit/>
          </a:bodyPr>
          <a:lstStyle/>
          <a:p>
            <a:pPr>
              <a:spcBef>
                <a:spcPts val="0"/>
              </a:spcBef>
              <a:spcAft>
                <a:spcPts val="0"/>
              </a:spcAft>
            </a:pPr>
            <a:r>
              <a:rPr sz="1200" b="1">
                <a:solidFill>
                  <a:srgbClr val="007E78"/>
                </a:solidFill>
                <a:latin typeface="Aptos"/>
              </a:rPr>
              <a:t>SOM · PAID TEST</a:t>
            </a:r>
          </a:p>
        </p:txBody>
      </p:sp>
      <p:sp>
        <p:nvSpPr>
          <p:cNvPr id="26" name="TextBox 25"/>
          <p:cNvSpPr txBox="1"/>
          <p:nvPr/>
        </p:nvSpPr>
        <p:spPr>
          <a:xfrm>
            <a:off x="9290304" y="2770632"/>
            <a:ext cx="2093976" cy="603504"/>
          </a:xfrm>
          <a:prstGeom prst="rect">
            <a:avLst/>
          </a:prstGeom>
          <a:noFill/>
        </p:spPr>
        <p:txBody>
          <a:bodyPr wrap="square" lIns="18288" tIns="18288" rIns="18288" bIns="18288" anchor="ctr">
            <a:spAutoFit/>
          </a:bodyPr>
          <a:lstStyle/>
          <a:p>
            <a:pPr>
              <a:spcBef>
                <a:spcPts val="0"/>
              </a:spcBef>
              <a:spcAft>
                <a:spcPts val="0"/>
              </a:spcAft>
            </a:pPr>
            <a:r>
              <a:rPr sz="2600" b="1">
                <a:solidFill>
                  <a:srgbClr val="13283F"/>
                </a:solidFill>
                <a:latin typeface="Aptos"/>
              </a:rPr>
              <a:t>$450K</a:t>
            </a:r>
          </a:p>
        </p:txBody>
      </p:sp>
      <p:sp>
        <p:nvSpPr>
          <p:cNvPr id="27" name="TextBox 26"/>
          <p:cNvSpPr txBox="1"/>
          <p:nvPr/>
        </p:nvSpPr>
        <p:spPr>
          <a:xfrm>
            <a:off x="9308592" y="3611880"/>
            <a:ext cx="2048256" cy="292608"/>
          </a:xfrm>
          <a:prstGeom prst="rect">
            <a:avLst/>
          </a:prstGeom>
          <a:noFill/>
        </p:spPr>
        <p:txBody>
          <a:bodyPr wrap="square" lIns="18288" tIns="18288" rIns="18288" bIns="18288" anchor="ctr">
            <a:spAutoFit/>
          </a:bodyPr>
          <a:lstStyle/>
          <a:p>
            <a:pPr>
              <a:spcBef>
                <a:spcPts val="0"/>
              </a:spcBef>
              <a:spcAft>
                <a:spcPts val="0"/>
              </a:spcAft>
            </a:pPr>
            <a:r>
              <a:rPr sz="1570" b="1">
                <a:solidFill>
                  <a:srgbClr val="172B45"/>
                </a:solidFill>
                <a:latin typeface="Aptos"/>
              </a:rPr>
              <a:t>25 × $18K</a:t>
            </a:r>
          </a:p>
        </p:txBody>
      </p:sp>
      <p:sp>
        <p:nvSpPr>
          <p:cNvPr id="28" name="TextBox 27"/>
          <p:cNvSpPr txBox="1"/>
          <p:nvPr/>
        </p:nvSpPr>
        <p:spPr>
          <a:xfrm>
            <a:off x="9308592" y="4087368"/>
            <a:ext cx="2048256" cy="704088"/>
          </a:xfrm>
          <a:prstGeom prst="rect">
            <a:avLst/>
          </a:prstGeom>
          <a:noFill/>
        </p:spPr>
        <p:txBody>
          <a:bodyPr wrap="square" lIns="18288" tIns="18288" rIns="18288" bIns="18288" anchor="ctr">
            <a:spAutoFit/>
          </a:bodyPr>
          <a:lstStyle/>
          <a:p>
            <a:pPr>
              <a:spcBef>
                <a:spcPts val="0"/>
              </a:spcBef>
              <a:spcAft>
                <a:spcPts val="0"/>
              </a:spcAft>
            </a:pPr>
            <a:r>
              <a:rPr sz="1330" b="0">
                <a:solidFill>
                  <a:srgbClr val="63788C"/>
                </a:solidFill>
                <a:latin typeface="Aptos"/>
              </a:rPr>
              <a:t>Illustrative year-end add-on ARR</a:t>
            </a:r>
          </a:p>
        </p:txBody>
      </p:sp>
      <p:sp>
        <p:nvSpPr>
          <p:cNvPr id="29" name="Rounded Rectangle 28"/>
          <p:cNvSpPr/>
          <p:nvPr/>
        </p:nvSpPr>
        <p:spPr>
          <a:xfrm>
            <a:off x="502920" y="5404104"/>
            <a:ext cx="11247120" cy="649224"/>
          </a:xfrm>
          <a:prstGeom prst="roundRect">
            <a:avLst/>
          </a:prstGeom>
          <a:solidFill>
            <a:srgbClr val="DC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5800" y="5577840"/>
            <a:ext cx="1938528" cy="192024"/>
          </a:xfrm>
          <a:prstGeom prst="rect">
            <a:avLst/>
          </a:prstGeom>
          <a:noFill/>
        </p:spPr>
        <p:txBody>
          <a:bodyPr wrap="square" lIns="18288" tIns="18288" rIns="18288" bIns="18288" anchor="ctr">
            <a:spAutoFit/>
          </a:bodyPr>
          <a:lstStyle/>
          <a:p>
            <a:pPr>
              <a:spcBef>
                <a:spcPts val="0"/>
              </a:spcBef>
              <a:spcAft>
                <a:spcPts val="0"/>
              </a:spcAft>
            </a:pPr>
            <a:r>
              <a:rPr sz="1110" b="1">
                <a:solidFill>
                  <a:srgbClr val="007E78"/>
                </a:solidFill>
                <a:latin typeface="Aptos"/>
              </a:rPr>
              <a:t>MEERA’S BUYING TEST</a:t>
            </a:r>
          </a:p>
        </p:txBody>
      </p:sp>
      <p:sp>
        <p:nvSpPr>
          <p:cNvPr id="31" name="TextBox 30"/>
          <p:cNvSpPr txBox="1"/>
          <p:nvPr/>
        </p:nvSpPr>
        <p:spPr>
          <a:xfrm>
            <a:off x="2615184" y="5541264"/>
            <a:ext cx="8823960" cy="292608"/>
          </a:xfrm>
          <a:prstGeom prst="rect">
            <a:avLst/>
          </a:prstGeom>
          <a:noFill/>
        </p:spPr>
        <p:txBody>
          <a:bodyPr wrap="square" lIns="18288" tIns="18288" rIns="18288" bIns="18288" anchor="ctr">
            <a:spAutoFit/>
          </a:bodyPr>
          <a:lstStyle/>
          <a:p>
            <a:pPr>
              <a:spcBef>
                <a:spcPts val="0"/>
              </a:spcBef>
              <a:spcAft>
                <a:spcPts val="0"/>
              </a:spcAft>
            </a:pPr>
            <a:r>
              <a:rPr sz="1639" b="1">
                <a:solidFill>
                  <a:srgbClr val="13283F"/>
                </a:solidFill>
                <a:latin typeface="Aptos"/>
              </a:rPr>
              <a:t>Will finance-approved time savings and measurable growth justify a premium add-on?</a:t>
            </a:r>
          </a:p>
        </p:txBody>
      </p:sp>
      <p:sp>
        <p:nvSpPr>
          <p:cNvPr id="32" name="TextBox 31"/>
          <p:cNvSpPr txBox="1"/>
          <p:nvPr/>
        </p:nvSpPr>
        <p:spPr>
          <a:xfrm>
            <a:off x="539496" y="6153912"/>
            <a:ext cx="10881360" cy="182880"/>
          </a:xfrm>
          <a:prstGeom prst="rect">
            <a:avLst/>
          </a:prstGeom>
          <a:noFill/>
        </p:spPr>
        <p:txBody>
          <a:bodyPr wrap="square" lIns="18288" tIns="18288" rIns="18288" bIns="18288" anchor="ctr">
            <a:spAutoFit/>
          </a:bodyPr>
          <a:lstStyle/>
          <a:p>
            <a:pPr>
              <a:spcBef>
                <a:spcPts val="0"/>
              </a:spcBef>
              <a:spcAft>
                <a:spcPts val="0"/>
              </a:spcAft>
            </a:pPr>
            <a:r>
              <a:rPr sz="1030" b="0">
                <a:solidFill>
                  <a:srgbClr val="63788C"/>
                </a:solidFill>
                <a:latin typeface="Aptos"/>
              </a:rPr>
              <a:t>Account counts, $18K price and paid customers are assumptions to validate with Zenoti CRM and pilots.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84632" y="228600"/>
            <a:ext cx="10058400" cy="274320"/>
          </a:xfrm>
          <a:prstGeom prst="rect">
            <a:avLst/>
          </a:prstGeom>
          <a:noFill/>
        </p:spPr>
        <p:txBody>
          <a:bodyPr wrap="square" lIns="18288" tIns="18288" rIns="18288" bIns="18288" anchor="ctr">
            <a:spAutoFit/>
          </a:bodyPr>
          <a:lstStyle/>
          <a:p>
            <a:pPr>
              <a:spcBef>
                <a:spcPts val="0"/>
              </a:spcBef>
              <a:spcAft>
                <a:spcPts val="0"/>
              </a:spcAft>
            </a:pPr>
            <a:r>
              <a:rPr sz="1120" b="1">
                <a:solidFill>
                  <a:srgbClr val="007E78"/>
                </a:solidFill>
                <a:latin typeface="Aptos"/>
              </a:rPr>
              <a:t>ARJUN · ANSWER EXPERIENCE</a:t>
            </a:r>
          </a:p>
        </p:txBody>
      </p:sp>
      <p:sp>
        <p:nvSpPr>
          <p:cNvPr id="5" name="TextBox 4"/>
          <p:cNvSpPr txBox="1"/>
          <p:nvPr/>
        </p:nvSpPr>
        <p:spPr>
          <a:xfrm>
            <a:off x="484632" y="667512"/>
            <a:ext cx="11155680" cy="502920"/>
          </a:xfrm>
          <a:prstGeom prst="rect">
            <a:avLst/>
          </a:prstGeom>
          <a:noFill/>
        </p:spPr>
        <p:txBody>
          <a:bodyPr wrap="square" lIns="18288" tIns="18288" rIns="18288" bIns="18288" anchor="ctr">
            <a:spAutoFit/>
          </a:bodyPr>
          <a:lstStyle/>
          <a:p>
            <a:pPr>
              <a:spcBef>
                <a:spcPts val="0"/>
              </a:spcBef>
              <a:spcAft>
                <a:spcPts val="0"/>
              </a:spcAft>
            </a:pPr>
            <a:r>
              <a:rPr sz="2800" b="1">
                <a:solidFill>
                  <a:srgbClr val="13283F"/>
                </a:solidFill>
                <a:latin typeface="Aptos"/>
              </a:rPr>
              <a:t>Flag what looks wrong. Show freshness. Advise what to do.</a:t>
            </a:r>
          </a:p>
        </p:txBody>
      </p:sp>
      <p:sp>
        <p:nvSpPr>
          <p:cNvPr id="6" name="TextBox 5"/>
          <p:cNvSpPr txBox="1"/>
          <p:nvPr/>
        </p:nvSpPr>
        <p:spPr>
          <a:xfrm>
            <a:off x="493776" y="1252728"/>
            <a:ext cx="11064240" cy="429768"/>
          </a:xfrm>
          <a:prstGeom prst="rect">
            <a:avLst/>
          </a:prstGeom>
          <a:noFill/>
        </p:spPr>
        <p:txBody>
          <a:bodyPr wrap="square" lIns="18288" tIns="18288" rIns="18288" bIns="18288" anchor="ctr">
            <a:spAutoFit/>
          </a:bodyPr>
          <a:lstStyle/>
          <a:p>
            <a:pPr>
              <a:spcBef>
                <a:spcPts val="0"/>
              </a:spcBef>
              <a:spcAft>
                <a:spcPts val="0"/>
              </a:spcAft>
            </a:pPr>
            <a:r>
              <a:rPr sz="1570" b="0">
                <a:solidFill>
                  <a:srgbClr val="63788C"/>
                </a:solidFill>
                <a:latin typeface="Aptos"/>
              </a:rPr>
              <a:t>Build on existing diagnosis and recommendations; add clear freshness rules and a repeatable decision workflow.</a:t>
            </a:r>
          </a:p>
        </p:txBody>
      </p:sp>
      <p:sp>
        <p:nvSpPr>
          <p:cNvPr id="7" name="TextBox 6"/>
          <p:cNvSpPr txBox="1"/>
          <p:nvPr/>
        </p:nvSpPr>
        <p:spPr>
          <a:xfrm>
            <a:off x="11274552" y="6437376"/>
            <a:ext cx="438912" cy="219456"/>
          </a:xfrm>
          <a:prstGeom prst="rect">
            <a:avLst/>
          </a:prstGeom>
          <a:noFill/>
        </p:spPr>
        <p:txBody>
          <a:bodyPr wrap="square" lIns="18288" tIns="18288" rIns="18288" bIns="18288" anchor="ctr">
            <a:spAutoFit/>
          </a:bodyPr>
          <a:lstStyle/>
          <a:p>
            <a:pPr algn="r">
              <a:spcBef>
                <a:spcPts val="0"/>
              </a:spcBef>
              <a:spcAft>
                <a:spcPts val="0"/>
              </a:spcAft>
            </a:pPr>
            <a:r>
              <a:rPr sz="1050" b="1">
                <a:solidFill>
                  <a:srgbClr val="63788C"/>
                </a:solidFill>
                <a:latin typeface="Aptos"/>
              </a:rPr>
              <a:t>05</a:t>
            </a:r>
          </a:p>
        </p:txBody>
      </p:sp>
      <p:sp>
        <p:nvSpPr>
          <p:cNvPr id="8" name="Rounded Rectangle 7"/>
          <p:cNvSpPr/>
          <p:nvPr/>
        </p:nvSpPr>
        <p:spPr>
          <a:xfrm>
            <a:off x="493776" y="1874519"/>
            <a:ext cx="6885432" cy="4306824"/>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093976"/>
            <a:ext cx="1417320" cy="219456"/>
          </a:xfrm>
          <a:prstGeom prst="rect">
            <a:avLst/>
          </a:prstGeom>
          <a:noFill/>
        </p:spPr>
        <p:txBody>
          <a:bodyPr wrap="square" lIns="18288" tIns="18288" rIns="18288" bIns="18288" anchor="ctr">
            <a:spAutoFit/>
          </a:bodyPr>
          <a:lstStyle/>
          <a:p>
            <a:pPr>
              <a:spcBef>
                <a:spcPts val="0"/>
              </a:spcBef>
              <a:spcAft>
                <a:spcPts val="0"/>
              </a:spcAft>
            </a:pPr>
            <a:r>
              <a:rPr sz="1140" b="1">
                <a:solidFill>
                  <a:srgbClr val="007E78"/>
                </a:solidFill>
                <a:latin typeface="Aptos"/>
              </a:rPr>
              <a:t>ARJUN ASKS</a:t>
            </a:r>
          </a:p>
        </p:txBody>
      </p:sp>
      <p:sp>
        <p:nvSpPr>
          <p:cNvPr id="10" name="TextBox 9"/>
          <p:cNvSpPr txBox="1"/>
          <p:nvPr/>
        </p:nvSpPr>
        <p:spPr>
          <a:xfrm>
            <a:off x="731520" y="2395728"/>
            <a:ext cx="6300216" cy="438912"/>
          </a:xfrm>
          <a:prstGeom prst="rect">
            <a:avLst/>
          </a:prstGeom>
          <a:noFill/>
        </p:spPr>
        <p:txBody>
          <a:bodyPr wrap="square" lIns="18288" tIns="18288" rIns="18288" bIns="18288" anchor="ctr">
            <a:spAutoFit/>
          </a:bodyPr>
          <a:lstStyle/>
          <a:p>
            <a:pPr>
              <a:spcBef>
                <a:spcPts val="0"/>
              </a:spcBef>
              <a:spcAft>
                <a:spcPts val="0"/>
              </a:spcAft>
            </a:pPr>
            <a:r>
              <a:rPr sz="2010" b="1">
                <a:solidFill>
                  <a:srgbClr val="13283F"/>
                </a:solidFill>
                <a:latin typeface="Aptos"/>
              </a:rPr>
              <a:t>“Why did repeat visits fall in my region?”</a:t>
            </a:r>
          </a:p>
        </p:txBody>
      </p:sp>
      <p:sp>
        <p:nvSpPr>
          <p:cNvPr id="11" name="Rounded Rectangle 10"/>
          <p:cNvSpPr/>
          <p:nvPr/>
        </p:nvSpPr>
        <p:spPr>
          <a:xfrm>
            <a:off x="731520" y="2980944"/>
            <a:ext cx="6364224" cy="484632"/>
          </a:xfrm>
          <a:prstGeom prst="roundRect">
            <a:avLst/>
          </a:prstGeom>
          <a:solidFill>
            <a:srgbClr val="E8F1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5256" y="3090672"/>
            <a:ext cx="6016752" cy="228600"/>
          </a:xfrm>
          <a:prstGeom prst="rect">
            <a:avLst/>
          </a:prstGeom>
          <a:noFill/>
        </p:spPr>
        <p:txBody>
          <a:bodyPr wrap="square" lIns="18288" tIns="18288" rIns="18288" bIns="18288" anchor="ctr">
            <a:spAutoFit/>
          </a:bodyPr>
          <a:lstStyle/>
          <a:p>
            <a:pPr>
              <a:spcBef>
                <a:spcPts val="0"/>
              </a:spcBef>
              <a:spcAft>
                <a:spcPts val="0"/>
              </a:spcAft>
            </a:pPr>
            <a:r>
              <a:rPr sz="1200" b="1">
                <a:solidFill>
                  <a:srgbClr val="1569C7"/>
                </a:solidFill>
                <a:latin typeface="Aptos"/>
              </a:rPr>
              <a:t>SOURCE THROUGH: Mon, 19 Oct 2026, 11:59 p.m. local  •  Analysis: Tue 20 Oct</a:t>
            </a:r>
          </a:p>
        </p:txBody>
      </p:sp>
      <p:sp>
        <p:nvSpPr>
          <p:cNvPr id="13" name="TextBox 12"/>
          <p:cNvSpPr txBox="1"/>
          <p:nvPr/>
        </p:nvSpPr>
        <p:spPr>
          <a:xfrm>
            <a:off x="731520" y="3703320"/>
            <a:ext cx="758952" cy="201168"/>
          </a:xfrm>
          <a:prstGeom prst="rect">
            <a:avLst/>
          </a:prstGeom>
          <a:noFill/>
        </p:spPr>
        <p:txBody>
          <a:bodyPr wrap="square" lIns="18288" tIns="18288" rIns="18288" bIns="18288" anchor="ctr">
            <a:spAutoFit/>
          </a:bodyPr>
          <a:lstStyle/>
          <a:p>
            <a:pPr>
              <a:spcBef>
                <a:spcPts val="0"/>
              </a:spcBef>
              <a:spcAft>
                <a:spcPts val="0"/>
              </a:spcAft>
            </a:pPr>
            <a:r>
              <a:rPr sz="1110" b="1">
                <a:solidFill>
                  <a:srgbClr val="A63C40"/>
                </a:solidFill>
                <a:latin typeface="Aptos"/>
              </a:rPr>
              <a:t>WHAT CHANGED</a:t>
            </a:r>
          </a:p>
        </p:txBody>
      </p:sp>
      <p:sp>
        <p:nvSpPr>
          <p:cNvPr id="14" name="TextBox 13"/>
          <p:cNvSpPr txBox="1"/>
          <p:nvPr/>
        </p:nvSpPr>
        <p:spPr>
          <a:xfrm>
            <a:off x="1499616" y="3648456"/>
            <a:ext cx="5559552" cy="502920"/>
          </a:xfrm>
          <a:prstGeom prst="rect">
            <a:avLst/>
          </a:prstGeom>
          <a:noFill/>
        </p:spPr>
        <p:txBody>
          <a:bodyPr wrap="square" lIns="18288" tIns="18288" rIns="18288" bIns="18288" anchor="ctr">
            <a:spAutoFit/>
          </a:bodyPr>
          <a:lstStyle/>
          <a:p>
            <a:pPr>
              <a:spcBef>
                <a:spcPts val="0"/>
              </a:spcBef>
              <a:spcAft>
                <a:spcPts val="0"/>
              </a:spcAft>
            </a:pPr>
            <a:r>
              <a:rPr sz="1530" b="1">
                <a:solidFill>
                  <a:srgbClr val="172B45"/>
                </a:solidFill>
                <a:latin typeface="Aptos"/>
              </a:rPr>
              <a:t>Illustrative: 3 salons are 6% below the prior 4-week repeat-visit baseline.</a:t>
            </a:r>
          </a:p>
        </p:txBody>
      </p:sp>
      <p:sp>
        <p:nvSpPr>
          <p:cNvPr id="15" name="TextBox 14"/>
          <p:cNvSpPr txBox="1"/>
          <p:nvPr/>
        </p:nvSpPr>
        <p:spPr>
          <a:xfrm>
            <a:off x="731520" y="4297680"/>
            <a:ext cx="969264" cy="201168"/>
          </a:xfrm>
          <a:prstGeom prst="rect">
            <a:avLst/>
          </a:prstGeom>
          <a:noFill/>
        </p:spPr>
        <p:txBody>
          <a:bodyPr wrap="square" lIns="18288" tIns="18288" rIns="18288" bIns="18288" anchor="ctr">
            <a:spAutoFit/>
          </a:bodyPr>
          <a:lstStyle/>
          <a:p>
            <a:pPr>
              <a:spcBef>
                <a:spcPts val="0"/>
              </a:spcBef>
              <a:spcAft>
                <a:spcPts val="0"/>
              </a:spcAft>
            </a:pPr>
            <a:r>
              <a:rPr sz="1110" b="1">
                <a:solidFill>
                  <a:srgbClr val="B56812"/>
                </a:solidFill>
                <a:latin typeface="Aptos"/>
              </a:rPr>
              <a:t>CHECK WHY</a:t>
            </a:r>
          </a:p>
        </p:txBody>
      </p:sp>
      <p:sp>
        <p:nvSpPr>
          <p:cNvPr id="16" name="TextBox 15"/>
          <p:cNvSpPr txBox="1"/>
          <p:nvPr/>
        </p:nvSpPr>
        <p:spPr>
          <a:xfrm>
            <a:off x="1728216" y="4261104"/>
            <a:ext cx="5321808" cy="512064"/>
          </a:xfrm>
          <a:prstGeom prst="rect">
            <a:avLst/>
          </a:prstGeom>
          <a:noFill/>
        </p:spPr>
        <p:txBody>
          <a:bodyPr wrap="square" lIns="18288" tIns="18288" rIns="18288" bIns="18288" anchor="ctr">
            <a:spAutoFit/>
          </a:bodyPr>
          <a:lstStyle/>
          <a:p>
            <a:pPr>
              <a:spcBef>
                <a:spcPts val="0"/>
              </a:spcBef>
              <a:spcAft>
                <a:spcPts val="0"/>
              </a:spcAft>
            </a:pPr>
            <a:r>
              <a:rPr sz="1420" b="0">
                <a:solidFill>
                  <a:srgbClr val="172B45"/>
                </a:solidFill>
                <a:latin typeface="Aptos"/>
              </a:rPr>
              <a:t>Compare rebooking, stylist availability and service mix before claiming a cause.</a:t>
            </a:r>
          </a:p>
        </p:txBody>
      </p:sp>
      <p:sp>
        <p:nvSpPr>
          <p:cNvPr id="17" name="TextBox 16"/>
          <p:cNvSpPr txBox="1"/>
          <p:nvPr/>
        </p:nvSpPr>
        <p:spPr>
          <a:xfrm>
            <a:off x="731520" y="4956048"/>
            <a:ext cx="1051560" cy="201168"/>
          </a:xfrm>
          <a:prstGeom prst="rect">
            <a:avLst/>
          </a:prstGeom>
          <a:noFill/>
        </p:spPr>
        <p:txBody>
          <a:bodyPr wrap="square" lIns="18288" tIns="18288" rIns="18288" bIns="18288" anchor="ctr">
            <a:spAutoFit/>
          </a:bodyPr>
          <a:lstStyle/>
          <a:p>
            <a:pPr>
              <a:spcBef>
                <a:spcPts val="0"/>
              </a:spcBef>
              <a:spcAft>
                <a:spcPts val="0"/>
              </a:spcAft>
            </a:pPr>
            <a:r>
              <a:rPr sz="1110" b="1">
                <a:solidFill>
                  <a:srgbClr val="187D54"/>
                </a:solidFill>
                <a:latin typeface="Aptos"/>
              </a:rPr>
              <a:t>NEXT STEP</a:t>
            </a:r>
          </a:p>
        </p:txBody>
      </p:sp>
      <p:sp>
        <p:nvSpPr>
          <p:cNvPr id="18" name="TextBox 17"/>
          <p:cNvSpPr txBox="1"/>
          <p:nvPr/>
        </p:nvSpPr>
        <p:spPr>
          <a:xfrm>
            <a:off x="1810512" y="4919472"/>
            <a:ext cx="5248656" cy="594360"/>
          </a:xfrm>
          <a:prstGeom prst="rect">
            <a:avLst/>
          </a:prstGeom>
          <a:noFill/>
        </p:spPr>
        <p:txBody>
          <a:bodyPr wrap="square" lIns="18288" tIns="18288" rIns="18288" bIns="18288" anchor="ctr">
            <a:spAutoFit/>
          </a:bodyPr>
          <a:lstStyle/>
          <a:p>
            <a:pPr>
              <a:spcBef>
                <a:spcPts val="0"/>
              </a:spcBef>
              <a:spcAft>
                <a:spcPts val="0"/>
              </a:spcAft>
            </a:pPr>
            <a:r>
              <a:rPr sz="1420" b="0">
                <a:solidFill>
                  <a:srgbClr val="172B45"/>
                </a:solidFill>
                <a:latin typeface="Aptos"/>
              </a:rPr>
              <a:t>Arjun reviews causes, approves a targeted follow-up, then tracks paid visits.</a:t>
            </a:r>
          </a:p>
        </p:txBody>
      </p:sp>
      <p:sp>
        <p:nvSpPr>
          <p:cNvPr id="19" name="TextBox 18"/>
          <p:cNvSpPr txBox="1"/>
          <p:nvPr/>
        </p:nvSpPr>
        <p:spPr>
          <a:xfrm>
            <a:off x="749808" y="5852160"/>
            <a:ext cx="6309360" cy="201168"/>
          </a:xfrm>
          <a:prstGeom prst="rect">
            <a:avLst/>
          </a:prstGeom>
          <a:noFill/>
        </p:spPr>
        <p:txBody>
          <a:bodyPr wrap="square" lIns="18288" tIns="18288" rIns="18288" bIns="18288" anchor="ctr">
            <a:spAutoFit/>
          </a:bodyPr>
          <a:lstStyle/>
          <a:p>
            <a:pPr>
              <a:spcBef>
                <a:spcPts val="0"/>
              </a:spcBef>
              <a:spcAft>
                <a:spcPts val="0"/>
              </a:spcAft>
            </a:pPr>
            <a:r>
              <a:rPr sz="1010" b="0">
                <a:solidFill>
                  <a:srgbClr val="63788C"/>
                </a:solidFill>
                <a:latin typeface="Aptos"/>
              </a:rPr>
              <a:t>Illustrative AI response—not a claim of a live feature or an actual client result.</a:t>
            </a:r>
          </a:p>
        </p:txBody>
      </p:sp>
      <p:sp>
        <p:nvSpPr>
          <p:cNvPr id="20" name="Rounded Rectangle 19"/>
          <p:cNvSpPr/>
          <p:nvPr/>
        </p:nvSpPr>
        <p:spPr>
          <a:xfrm>
            <a:off x="7580375" y="1874519"/>
            <a:ext cx="4096512" cy="1975104"/>
          </a:xfrm>
          <a:prstGeom prst="roundRect">
            <a:avLst/>
          </a:prstGeom>
          <a:solidFill>
            <a:srgbClr val="DC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81544" y="2093976"/>
            <a:ext cx="3584448" cy="265176"/>
          </a:xfrm>
          <a:prstGeom prst="rect">
            <a:avLst/>
          </a:prstGeom>
          <a:noFill/>
        </p:spPr>
        <p:txBody>
          <a:bodyPr wrap="square" lIns="18288" tIns="18288" rIns="18288" bIns="18288" anchor="ctr">
            <a:spAutoFit/>
          </a:bodyPr>
          <a:lstStyle/>
          <a:p>
            <a:pPr>
              <a:spcBef>
                <a:spcPts val="0"/>
              </a:spcBef>
              <a:spcAft>
                <a:spcPts val="0"/>
              </a:spcAft>
            </a:pPr>
            <a:r>
              <a:rPr sz="1250" b="1">
                <a:solidFill>
                  <a:srgbClr val="007E78"/>
                </a:solidFill>
                <a:latin typeface="Aptos"/>
              </a:rPr>
              <a:t>WHAT ZENOTI ALREADY DOES</a:t>
            </a:r>
          </a:p>
        </p:txBody>
      </p:sp>
      <p:sp>
        <p:nvSpPr>
          <p:cNvPr id="22" name="TextBox 21"/>
          <p:cNvSpPr txBox="1"/>
          <p:nvPr/>
        </p:nvSpPr>
        <p:spPr>
          <a:xfrm>
            <a:off x="7772400" y="2532888"/>
            <a:ext cx="3621024" cy="850392"/>
          </a:xfrm>
          <a:prstGeom prst="rect">
            <a:avLst/>
          </a:prstGeom>
          <a:noFill/>
        </p:spPr>
        <p:txBody>
          <a:bodyPr wrap="square" lIns="18288" tIns="18288" rIns="18288" bIns="18288" anchor="ctr">
            <a:spAutoFit/>
          </a:bodyPr>
          <a:lstStyle/>
          <a:p>
            <a:pPr>
              <a:spcBef>
                <a:spcPts val="0"/>
              </a:spcBef>
              <a:spcAft>
                <a:spcPts val="0"/>
              </a:spcAft>
            </a:pPr>
            <a:r>
              <a:rPr sz="1650" b="1">
                <a:solidFill>
                  <a:srgbClr val="13283F"/>
                </a:solidFill>
                <a:latin typeface="Aptos"/>
              </a:rPr>
              <a:t>Ask, diagnose, explain formulas, suggest next steps, pin and export.</a:t>
            </a:r>
          </a:p>
        </p:txBody>
      </p:sp>
      <p:sp>
        <p:nvSpPr>
          <p:cNvPr id="23" name="Rounded Rectangle 22"/>
          <p:cNvSpPr/>
          <p:nvPr/>
        </p:nvSpPr>
        <p:spPr>
          <a:xfrm>
            <a:off x="7580375" y="4005072"/>
            <a:ext cx="4096512" cy="2167128"/>
          </a:xfrm>
          <a:prstGeom prst="roundRect">
            <a:avLst/>
          </a:prstGeom>
          <a:solidFill>
            <a:srgbClr val="FEF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81544" y="4206240"/>
            <a:ext cx="3657600" cy="283464"/>
          </a:xfrm>
          <a:prstGeom prst="rect">
            <a:avLst/>
          </a:prstGeom>
          <a:noFill/>
        </p:spPr>
        <p:txBody>
          <a:bodyPr wrap="square" lIns="18288" tIns="18288" rIns="18288" bIns="18288" anchor="ctr">
            <a:spAutoFit/>
          </a:bodyPr>
          <a:lstStyle/>
          <a:p>
            <a:pPr>
              <a:spcBef>
                <a:spcPts val="0"/>
              </a:spcBef>
              <a:spcAft>
                <a:spcPts val="0"/>
              </a:spcAft>
            </a:pPr>
            <a:r>
              <a:rPr sz="1220" b="1">
                <a:solidFill>
                  <a:srgbClr val="B56812"/>
                </a:solidFill>
                <a:latin typeface="Aptos"/>
              </a:rPr>
              <a:t>THE ENHANCEMENT TO VALIDATE</a:t>
            </a:r>
          </a:p>
        </p:txBody>
      </p:sp>
      <p:sp>
        <p:nvSpPr>
          <p:cNvPr id="25" name="TextBox 24"/>
          <p:cNvSpPr txBox="1"/>
          <p:nvPr/>
        </p:nvSpPr>
        <p:spPr>
          <a:xfrm>
            <a:off x="7781544" y="4626864"/>
            <a:ext cx="3639312" cy="1033271"/>
          </a:xfrm>
          <a:prstGeom prst="rect">
            <a:avLst/>
          </a:prstGeom>
          <a:noFill/>
        </p:spPr>
        <p:txBody>
          <a:bodyPr wrap="square" lIns="18288" tIns="18288" rIns="18288" bIns="18288" anchor="ctr">
            <a:spAutoFit/>
          </a:bodyPr>
          <a:lstStyle/>
          <a:p>
            <a:pPr>
              <a:spcBef>
                <a:spcPts val="0"/>
              </a:spcBef>
              <a:spcAft>
                <a:spcPts val="0"/>
              </a:spcAft>
            </a:pPr>
            <a:r>
              <a:rPr sz="1530" b="1">
                <a:solidFill>
                  <a:srgbClr val="13283F"/>
                </a:solidFill>
                <a:latin typeface="Aptos"/>
              </a:rPr>
              <a:t>Explicit source-age state; saved refreshable insight; threshold alert; owner and outcome.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84632" y="228600"/>
            <a:ext cx="10058400" cy="274320"/>
          </a:xfrm>
          <a:prstGeom prst="rect">
            <a:avLst/>
          </a:prstGeom>
          <a:noFill/>
        </p:spPr>
        <p:txBody>
          <a:bodyPr wrap="square" lIns="18288" tIns="18288" rIns="18288" bIns="18288" anchor="ctr">
            <a:spAutoFit/>
          </a:bodyPr>
          <a:lstStyle/>
          <a:p>
            <a:pPr>
              <a:spcBef>
                <a:spcPts val="0"/>
              </a:spcBef>
              <a:spcAft>
                <a:spcPts val="0"/>
              </a:spcAft>
            </a:pPr>
            <a:r>
              <a:rPr sz="1120" b="1">
                <a:solidFill>
                  <a:srgbClr val="007E78"/>
                </a:solidFill>
                <a:latin typeface="Aptos"/>
              </a:rPr>
              <a:t>ARJUN · THE WEEKLY DECISION</a:t>
            </a:r>
          </a:p>
        </p:txBody>
      </p:sp>
      <p:sp>
        <p:nvSpPr>
          <p:cNvPr id="5" name="TextBox 4"/>
          <p:cNvSpPr txBox="1"/>
          <p:nvPr/>
        </p:nvSpPr>
        <p:spPr>
          <a:xfrm>
            <a:off x="484632" y="667512"/>
            <a:ext cx="11155680" cy="502920"/>
          </a:xfrm>
          <a:prstGeom prst="rect">
            <a:avLst/>
          </a:prstGeom>
          <a:noFill/>
        </p:spPr>
        <p:txBody>
          <a:bodyPr wrap="square" lIns="18288" tIns="18288" rIns="18288" bIns="18288" anchor="ctr">
            <a:spAutoFit/>
          </a:bodyPr>
          <a:lstStyle/>
          <a:p>
            <a:pPr>
              <a:spcBef>
                <a:spcPts val="0"/>
              </a:spcBef>
              <a:spcAft>
                <a:spcPts val="0"/>
              </a:spcAft>
            </a:pPr>
            <a:r>
              <a:rPr sz="2800" b="1">
                <a:solidFill>
                  <a:srgbClr val="13283F"/>
                </a:solidFill>
                <a:latin typeface="Aptos"/>
              </a:rPr>
              <a:t>Arjun gets fresh advice every Monday—then acts</a:t>
            </a:r>
          </a:p>
        </p:txBody>
      </p:sp>
      <p:sp>
        <p:nvSpPr>
          <p:cNvPr id="6" name="TextBox 5"/>
          <p:cNvSpPr txBox="1"/>
          <p:nvPr/>
        </p:nvSpPr>
        <p:spPr>
          <a:xfrm>
            <a:off x="493776" y="1252728"/>
            <a:ext cx="11064240" cy="429768"/>
          </a:xfrm>
          <a:prstGeom prst="rect">
            <a:avLst/>
          </a:prstGeom>
          <a:noFill/>
        </p:spPr>
        <p:txBody>
          <a:bodyPr wrap="square" lIns="18288" tIns="18288" rIns="18288" bIns="18288" anchor="ctr">
            <a:spAutoFit/>
          </a:bodyPr>
          <a:lstStyle/>
          <a:p>
            <a:pPr>
              <a:spcBef>
                <a:spcPts val="0"/>
              </a:spcBef>
              <a:spcAft>
                <a:spcPts val="0"/>
              </a:spcAft>
            </a:pPr>
            <a:r>
              <a:rPr sz="1570" b="0">
                <a:solidFill>
                  <a:srgbClr val="63788C"/>
                </a:solidFill>
                <a:latin typeface="Aptos"/>
              </a:rPr>
              <a:t>A saved insight becomes a repeatable workflow. Humans still decide whether to act.</a:t>
            </a:r>
          </a:p>
        </p:txBody>
      </p:sp>
      <p:sp>
        <p:nvSpPr>
          <p:cNvPr id="7" name="TextBox 6"/>
          <p:cNvSpPr txBox="1"/>
          <p:nvPr/>
        </p:nvSpPr>
        <p:spPr>
          <a:xfrm>
            <a:off x="11274552" y="6437376"/>
            <a:ext cx="438912" cy="219456"/>
          </a:xfrm>
          <a:prstGeom prst="rect">
            <a:avLst/>
          </a:prstGeom>
          <a:noFill/>
        </p:spPr>
        <p:txBody>
          <a:bodyPr wrap="square" lIns="18288" tIns="18288" rIns="18288" bIns="18288" anchor="ctr">
            <a:spAutoFit/>
          </a:bodyPr>
          <a:lstStyle/>
          <a:p>
            <a:pPr algn="r">
              <a:spcBef>
                <a:spcPts val="0"/>
              </a:spcBef>
              <a:spcAft>
                <a:spcPts val="0"/>
              </a:spcAft>
            </a:pPr>
            <a:r>
              <a:rPr sz="1050" b="1">
                <a:solidFill>
                  <a:srgbClr val="63788C"/>
                </a:solidFill>
                <a:latin typeface="Aptos"/>
              </a:rPr>
              <a:t>06</a:t>
            </a:r>
          </a:p>
        </p:txBody>
      </p:sp>
      <p:sp>
        <p:nvSpPr>
          <p:cNvPr id="8" name="Rounded Rectangle 7"/>
          <p:cNvSpPr/>
          <p:nvPr/>
        </p:nvSpPr>
        <p:spPr>
          <a:xfrm>
            <a:off x="502920" y="2112264"/>
            <a:ext cx="2130552" cy="3026664"/>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234440" y="2304288"/>
            <a:ext cx="603504" cy="603504"/>
          </a:xfrm>
          <a:prstGeom prst="ellipse">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62456" y="2404872"/>
            <a:ext cx="356616" cy="292608"/>
          </a:xfrm>
          <a:prstGeom prst="rect">
            <a:avLst/>
          </a:prstGeom>
          <a:noFill/>
        </p:spPr>
        <p:txBody>
          <a:bodyPr wrap="square" lIns="18288" tIns="18288" rIns="18288" bIns="18288" anchor="ctr">
            <a:spAutoFit/>
          </a:bodyPr>
          <a:lstStyle/>
          <a:p>
            <a:pPr algn="ctr">
              <a:spcBef>
                <a:spcPts val="0"/>
              </a:spcBef>
              <a:spcAft>
                <a:spcPts val="0"/>
              </a:spcAft>
            </a:pPr>
            <a:r>
              <a:rPr sz="1700" b="1">
                <a:solidFill>
                  <a:srgbClr val="FFFFFF"/>
                </a:solidFill>
                <a:latin typeface="Aptos"/>
              </a:rPr>
              <a:t>1</a:t>
            </a:r>
          </a:p>
        </p:txBody>
      </p:sp>
      <p:sp>
        <p:nvSpPr>
          <p:cNvPr id="11" name="TextBox 10"/>
          <p:cNvSpPr txBox="1"/>
          <p:nvPr/>
        </p:nvSpPr>
        <p:spPr>
          <a:xfrm>
            <a:off x="667512" y="3154680"/>
            <a:ext cx="1810512" cy="320040"/>
          </a:xfrm>
          <a:prstGeom prst="rect">
            <a:avLst/>
          </a:prstGeom>
          <a:noFill/>
        </p:spPr>
        <p:txBody>
          <a:bodyPr wrap="square" lIns="18288" tIns="18288" rIns="18288" bIns="18288" anchor="ctr">
            <a:spAutoFit/>
          </a:bodyPr>
          <a:lstStyle/>
          <a:p>
            <a:pPr algn="ctr">
              <a:spcBef>
                <a:spcPts val="0"/>
              </a:spcBef>
              <a:spcAft>
                <a:spcPts val="0"/>
              </a:spcAft>
            </a:pPr>
            <a:r>
              <a:rPr sz="1720" b="1">
                <a:solidFill>
                  <a:srgbClr val="13283F"/>
                </a:solidFill>
                <a:latin typeface="Aptos"/>
              </a:rPr>
              <a:t>ASK</a:t>
            </a:r>
          </a:p>
        </p:txBody>
      </p:sp>
      <p:sp>
        <p:nvSpPr>
          <p:cNvPr id="12" name="TextBox 11"/>
          <p:cNvSpPr txBox="1"/>
          <p:nvPr/>
        </p:nvSpPr>
        <p:spPr>
          <a:xfrm>
            <a:off x="640080" y="3566160"/>
            <a:ext cx="1828800" cy="237744"/>
          </a:xfrm>
          <a:prstGeom prst="rect">
            <a:avLst/>
          </a:prstGeom>
          <a:noFill/>
        </p:spPr>
        <p:txBody>
          <a:bodyPr wrap="square" lIns="18288" tIns="18288" rIns="18288" bIns="18288" anchor="ctr">
            <a:spAutoFit/>
          </a:bodyPr>
          <a:lstStyle/>
          <a:p>
            <a:pPr algn="ctr">
              <a:spcBef>
                <a:spcPts val="0"/>
              </a:spcBef>
              <a:spcAft>
                <a:spcPts val="0"/>
              </a:spcAft>
            </a:pPr>
            <a:r>
              <a:rPr sz="1080" b="1">
                <a:solidFill>
                  <a:srgbClr val="007E78"/>
                </a:solidFill>
                <a:latin typeface="Aptos"/>
              </a:rPr>
              <a:t>EXISTING</a:t>
            </a:r>
          </a:p>
        </p:txBody>
      </p:sp>
      <p:sp>
        <p:nvSpPr>
          <p:cNvPr id="13" name="TextBox 12"/>
          <p:cNvSpPr txBox="1"/>
          <p:nvPr/>
        </p:nvSpPr>
        <p:spPr>
          <a:xfrm>
            <a:off x="685800" y="4005072"/>
            <a:ext cx="1783080" cy="758952"/>
          </a:xfrm>
          <a:prstGeom prst="rect">
            <a:avLst/>
          </a:prstGeom>
          <a:noFill/>
        </p:spPr>
        <p:txBody>
          <a:bodyPr wrap="square" lIns="18288" tIns="18288" rIns="18288" bIns="18288" anchor="ctr">
            <a:spAutoFit/>
          </a:bodyPr>
          <a:lstStyle/>
          <a:p>
            <a:pPr algn="ctr">
              <a:spcBef>
                <a:spcPts val="0"/>
              </a:spcBef>
              <a:spcAft>
                <a:spcPts val="0"/>
              </a:spcAft>
            </a:pPr>
            <a:r>
              <a:rPr sz="1410" b="0">
                <a:solidFill>
                  <a:srgbClr val="172B45"/>
                </a:solidFill>
                <a:latin typeface="Aptos"/>
              </a:rPr>
              <a:t>Arjun asks AI about repeat visits.</a:t>
            </a:r>
          </a:p>
        </p:txBody>
      </p:sp>
      <p:sp>
        <p:nvSpPr>
          <p:cNvPr id="14" name="TextBox 13"/>
          <p:cNvSpPr txBox="1"/>
          <p:nvPr/>
        </p:nvSpPr>
        <p:spPr>
          <a:xfrm>
            <a:off x="2606039" y="2962656"/>
            <a:ext cx="246888" cy="310896"/>
          </a:xfrm>
          <a:prstGeom prst="rect">
            <a:avLst/>
          </a:prstGeom>
          <a:noFill/>
        </p:spPr>
        <p:txBody>
          <a:bodyPr wrap="square" lIns="18288" tIns="18288" rIns="18288" bIns="18288" anchor="ctr">
            <a:spAutoFit/>
          </a:bodyPr>
          <a:lstStyle/>
          <a:p>
            <a:pPr>
              <a:spcBef>
                <a:spcPts val="0"/>
              </a:spcBef>
              <a:spcAft>
                <a:spcPts val="0"/>
              </a:spcAft>
            </a:pPr>
            <a:r>
              <a:rPr sz="1750" b="1">
                <a:solidFill>
                  <a:srgbClr val="63788C"/>
                </a:solidFill>
                <a:latin typeface="Aptos"/>
              </a:rPr>
              <a:t>→</a:t>
            </a:r>
          </a:p>
        </p:txBody>
      </p:sp>
      <p:sp>
        <p:nvSpPr>
          <p:cNvPr id="15" name="Rounded Rectangle 14"/>
          <p:cNvSpPr/>
          <p:nvPr/>
        </p:nvSpPr>
        <p:spPr>
          <a:xfrm>
            <a:off x="2834639" y="2112264"/>
            <a:ext cx="2130552" cy="3026664"/>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566159" y="2304288"/>
            <a:ext cx="603504" cy="603504"/>
          </a:xfrm>
          <a:prstGeom prst="ellipse">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94175" y="2404872"/>
            <a:ext cx="356616" cy="292608"/>
          </a:xfrm>
          <a:prstGeom prst="rect">
            <a:avLst/>
          </a:prstGeom>
          <a:noFill/>
        </p:spPr>
        <p:txBody>
          <a:bodyPr wrap="square" lIns="18288" tIns="18288" rIns="18288" bIns="18288" anchor="ctr">
            <a:spAutoFit/>
          </a:bodyPr>
          <a:lstStyle/>
          <a:p>
            <a:pPr algn="ctr">
              <a:spcBef>
                <a:spcPts val="0"/>
              </a:spcBef>
              <a:spcAft>
                <a:spcPts val="0"/>
              </a:spcAft>
            </a:pPr>
            <a:r>
              <a:rPr sz="1700" b="1">
                <a:solidFill>
                  <a:srgbClr val="FFFFFF"/>
                </a:solidFill>
                <a:latin typeface="Aptos"/>
              </a:rPr>
              <a:t>2</a:t>
            </a:r>
          </a:p>
        </p:txBody>
      </p:sp>
      <p:sp>
        <p:nvSpPr>
          <p:cNvPr id="18" name="TextBox 17"/>
          <p:cNvSpPr txBox="1"/>
          <p:nvPr/>
        </p:nvSpPr>
        <p:spPr>
          <a:xfrm>
            <a:off x="2999232" y="3154680"/>
            <a:ext cx="1810512" cy="320040"/>
          </a:xfrm>
          <a:prstGeom prst="rect">
            <a:avLst/>
          </a:prstGeom>
          <a:noFill/>
        </p:spPr>
        <p:txBody>
          <a:bodyPr wrap="square" lIns="18288" tIns="18288" rIns="18288" bIns="18288" anchor="ctr">
            <a:spAutoFit/>
          </a:bodyPr>
          <a:lstStyle/>
          <a:p>
            <a:pPr algn="ctr">
              <a:spcBef>
                <a:spcPts val="0"/>
              </a:spcBef>
              <a:spcAft>
                <a:spcPts val="0"/>
              </a:spcAft>
            </a:pPr>
            <a:r>
              <a:rPr sz="1720" b="1">
                <a:solidFill>
                  <a:srgbClr val="13283F"/>
                </a:solidFill>
                <a:latin typeface="Aptos"/>
              </a:rPr>
              <a:t>SAVE</a:t>
            </a:r>
          </a:p>
        </p:txBody>
      </p:sp>
      <p:sp>
        <p:nvSpPr>
          <p:cNvPr id="19" name="TextBox 18"/>
          <p:cNvSpPr txBox="1"/>
          <p:nvPr/>
        </p:nvSpPr>
        <p:spPr>
          <a:xfrm>
            <a:off x="2971799" y="3566160"/>
            <a:ext cx="1828800" cy="237744"/>
          </a:xfrm>
          <a:prstGeom prst="rect">
            <a:avLst/>
          </a:prstGeom>
          <a:noFill/>
        </p:spPr>
        <p:txBody>
          <a:bodyPr wrap="square" lIns="18288" tIns="18288" rIns="18288" bIns="18288" anchor="ctr">
            <a:spAutoFit/>
          </a:bodyPr>
          <a:lstStyle/>
          <a:p>
            <a:pPr algn="ctr">
              <a:spcBef>
                <a:spcPts val="0"/>
              </a:spcBef>
              <a:spcAft>
                <a:spcPts val="0"/>
              </a:spcAft>
            </a:pPr>
            <a:r>
              <a:rPr sz="1080" b="1">
                <a:solidFill>
                  <a:srgbClr val="007E78"/>
                </a:solidFill>
                <a:latin typeface="Aptos"/>
              </a:rPr>
              <a:t>PROPOSED</a:t>
            </a:r>
          </a:p>
        </p:txBody>
      </p:sp>
      <p:sp>
        <p:nvSpPr>
          <p:cNvPr id="20" name="TextBox 19"/>
          <p:cNvSpPr txBox="1"/>
          <p:nvPr/>
        </p:nvSpPr>
        <p:spPr>
          <a:xfrm>
            <a:off x="3017520" y="4005072"/>
            <a:ext cx="1783080" cy="758952"/>
          </a:xfrm>
          <a:prstGeom prst="rect">
            <a:avLst/>
          </a:prstGeom>
          <a:noFill/>
        </p:spPr>
        <p:txBody>
          <a:bodyPr wrap="square" lIns="18288" tIns="18288" rIns="18288" bIns="18288" anchor="ctr">
            <a:spAutoFit/>
          </a:bodyPr>
          <a:lstStyle/>
          <a:p>
            <a:pPr algn="ctr">
              <a:spcBef>
                <a:spcPts val="0"/>
              </a:spcBef>
              <a:spcAft>
                <a:spcPts val="0"/>
              </a:spcAft>
            </a:pPr>
            <a:r>
              <a:rPr sz="1410" b="0">
                <a:solidFill>
                  <a:srgbClr val="172B45"/>
                </a:solidFill>
                <a:latin typeface="Aptos"/>
              </a:rPr>
              <a:t>Save the metric, centers and filters.</a:t>
            </a:r>
          </a:p>
        </p:txBody>
      </p:sp>
      <p:sp>
        <p:nvSpPr>
          <p:cNvPr id="21" name="TextBox 20"/>
          <p:cNvSpPr txBox="1"/>
          <p:nvPr/>
        </p:nvSpPr>
        <p:spPr>
          <a:xfrm>
            <a:off x="4937759" y="2962656"/>
            <a:ext cx="246888" cy="310896"/>
          </a:xfrm>
          <a:prstGeom prst="rect">
            <a:avLst/>
          </a:prstGeom>
          <a:noFill/>
        </p:spPr>
        <p:txBody>
          <a:bodyPr wrap="square" lIns="18288" tIns="18288" rIns="18288" bIns="18288" anchor="ctr">
            <a:spAutoFit/>
          </a:bodyPr>
          <a:lstStyle/>
          <a:p>
            <a:pPr>
              <a:spcBef>
                <a:spcPts val="0"/>
              </a:spcBef>
              <a:spcAft>
                <a:spcPts val="0"/>
              </a:spcAft>
            </a:pPr>
            <a:r>
              <a:rPr sz="1750" b="1">
                <a:solidFill>
                  <a:srgbClr val="63788C"/>
                </a:solidFill>
                <a:latin typeface="Aptos"/>
              </a:rPr>
              <a:t>→</a:t>
            </a:r>
          </a:p>
        </p:txBody>
      </p:sp>
      <p:sp>
        <p:nvSpPr>
          <p:cNvPr id="22" name="Rounded Rectangle 21"/>
          <p:cNvSpPr/>
          <p:nvPr/>
        </p:nvSpPr>
        <p:spPr>
          <a:xfrm>
            <a:off x="5166359" y="2112264"/>
            <a:ext cx="2130552" cy="3026664"/>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897879" y="2304288"/>
            <a:ext cx="603504" cy="603504"/>
          </a:xfrm>
          <a:prstGeom prst="ellipse">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25896" y="2404872"/>
            <a:ext cx="356616" cy="292608"/>
          </a:xfrm>
          <a:prstGeom prst="rect">
            <a:avLst/>
          </a:prstGeom>
          <a:noFill/>
        </p:spPr>
        <p:txBody>
          <a:bodyPr wrap="square" lIns="18288" tIns="18288" rIns="18288" bIns="18288" anchor="ctr">
            <a:spAutoFit/>
          </a:bodyPr>
          <a:lstStyle/>
          <a:p>
            <a:pPr algn="ctr">
              <a:spcBef>
                <a:spcPts val="0"/>
              </a:spcBef>
              <a:spcAft>
                <a:spcPts val="0"/>
              </a:spcAft>
            </a:pPr>
            <a:r>
              <a:rPr sz="1700" b="1">
                <a:solidFill>
                  <a:srgbClr val="FFFFFF"/>
                </a:solidFill>
                <a:latin typeface="Aptos"/>
              </a:rPr>
              <a:t>3</a:t>
            </a:r>
          </a:p>
        </p:txBody>
      </p:sp>
      <p:sp>
        <p:nvSpPr>
          <p:cNvPr id="25" name="TextBox 24"/>
          <p:cNvSpPr txBox="1"/>
          <p:nvPr/>
        </p:nvSpPr>
        <p:spPr>
          <a:xfrm>
            <a:off x="5330951" y="3154680"/>
            <a:ext cx="1810512" cy="320040"/>
          </a:xfrm>
          <a:prstGeom prst="rect">
            <a:avLst/>
          </a:prstGeom>
          <a:noFill/>
        </p:spPr>
        <p:txBody>
          <a:bodyPr wrap="square" lIns="18288" tIns="18288" rIns="18288" bIns="18288" anchor="ctr">
            <a:spAutoFit/>
          </a:bodyPr>
          <a:lstStyle/>
          <a:p>
            <a:pPr algn="ctr">
              <a:spcBef>
                <a:spcPts val="0"/>
              </a:spcBef>
              <a:spcAft>
                <a:spcPts val="0"/>
              </a:spcAft>
            </a:pPr>
            <a:r>
              <a:rPr sz="1720" b="1">
                <a:solidFill>
                  <a:srgbClr val="13283F"/>
                </a:solidFill>
                <a:latin typeface="Aptos"/>
              </a:rPr>
              <a:t>REFRESH</a:t>
            </a:r>
          </a:p>
        </p:txBody>
      </p:sp>
      <p:sp>
        <p:nvSpPr>
          <p:cNvPr id="26" name="TextBox 25"/>
          <p:cNvSpPr txBox="1"/>
          <p:nvPr/>
        </p:nvSpPr>
        <p:spPr>
          <a:xfrm>
            <a:off x="5303520" y="3566160"/>
            <a:ext cx="1828800" cy="237744"/>
          </a:xfrm>
          <a:prstGeom prst="rect">
            <a:avLst/>
          </a:prstGeom>
          <a:noFill/>
        </p:spPr>
        <p:txBody>
          <a:bodyPr wrap="square" lIns="18288" tIns="18288" rIns="18288" bIns="18288" anchor="ctr">
            <a:spAutoFit/>
          </a:bodyPr>
          <a:lstStyle/>
          <a:p>
            <a:pPr algn="ctr">
              <a:spcBef>
                <a:spcPts val="0"/>
              </a:spcBef>
              <a:spcAft>
                <a:spcPts val="0"/>
              </a:spcAft>
            </a:pPr>
            <a:r>
              <a:rPr sz="1080" b="1">
                <a:solidFill>
                  <a:srgbClr val="007E78"/>
                </a:solidFill>
                <a:latin typeface="Aptos"/>
              </a:rPr>
              <a:t>PROPOSED</a:t>
            </a:r>
          </a:p>
        </p:txBody>
      </p:sp>
      <p:sp>
        <p:nvSpPr>
          <p:cNvPr id="27" name="TextBox 26"/>
          <p:cNvSpPr txBox="1"/>
          <p:nvPr/>
        </p:nvSpPr>
        <p:spPr>
          <a:xfrm>
            <a:off x="5349240" y="4005072"/>
            <a:ext cx="1783080" cy="758952"/>
          </a:xfrm>
          <a:prstGeom prst="rect">
            <a:avLst/>
          </a:prstGeom>
          <a:noFill/>
        </p:spPr>
        <p:txBody>
          <a:bodyPr wrap="square" lIns="18288" tIns="18288" rIns="18288" bIns="18288" anchor="ctr">
            <a:spAutoFit/>
          </a:bodyPr>
          <a:lstStyle/>
          <a:p>
            <a:pPr algn="ctr">
              <a:spcBef>
                <a:spcPts val="0"/>
              </a:spcBef>
              <a:spcAft>
                <a:spcPts val="0"/>
              </a:spcAft>
            </a:pPr>
            <a:r>
              <a:rPr sz="1410" b="0">
                <a:solidFill>
                  <a:srgbClr val="172B45"/>
                </a:solidFill>
                <a:latin typeface="Aptos"/>
              </a:rPr>
              <a:t>Run weekly on newly available data.</a:t>
            </a:r>
          </a:p>
        </p:txBody>
      </p:sp>
      <p:sp>
        <p:nvSpPr>
          <p:cNvPr id="28" name="TextBox 27"/>
          <p:cNvSpPr txBox="1"/>
          <p:nvPr/>
        </p:nvSpPr>
        <p:spPr>
          <a:xfrm>
            <a:off x="7269479" y="2962656"/>
            <a:ext cx="246888" cy="310896"/>
          </a:xfrm>
          <a:prstGeom prst="rect">
            <a:avLst/>
          </a:prstGeom>
          <a:noFill/>
        </p:spPr>
        <p:txBody>
          <a:bodyPr wrap="square" lIns="18288" tIns="18288" rIns="18288" bIns="18288" anchor="ctr">
            <a:spAutoFit/>
          </a:bodyPr>
          <a:lstStyle/>
          <a:p>
            <a:pPr>
              <a:spcBef>
                <a:spcPts val="0"/>
              </a:spcBef>
              <a:spcAft>
                <a:spcPts val="0"/>
              </a:spcAft>
            </a:pPr>
            <a:r>
              <a:rPr sz="1750" b="1">
                <a:solidFill>
                  <a:srgbClr val="63788C"/>
                </a:solidFill>
                <a:latin typeface="Aptos"/>
              </a:rPr>
              <a:t>→</a:t>
            </a:r>
          </a:p>
        </p:txBody>
      </p:sp>
      <p:sp>
        <p:nvSpPr>
          <p:cNvPr id="29" name="Rounded Rectangle 28"/>
          <p:cNvSpPr/>
          <p:nvPr/>
        </p:nvSpPr>
        <p:spPr>
          <a:xfrm>
            <a:off x="7498079" y="2112264"/>
            <a:ext cx="2130552" cy="3026664"/>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229600" y="2304288"/>
            <a:ext cx="603504" cy="603504"/>
          </a:xfrm>
          <a:prstGeom prst="ellipse">
            <a:avLst/>
          </a:prstGeom>
          <a:solidFill>
            <a:srgbClr val="1569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57615" y="2404872"/>
            <a:ext cx="356616" cy="292608"/>
          </a:xfrm>
          <a:prstGeom prst="rect">
            <a:avLst/>
          </a:prstGeom>
          <a:noFill/>
        </p:spPr>
        <p:txBody>
          <a:bodyPr wrap="square" lIns="18288" tIns="18288" rIns="18288" bIns="18288" anchor="ctr">
            <a:spAutoFit/>
          </a:bodyPr>
          <a:lstStyle/>
          <a:p>
            <a:pPr algn="ctr">
              <a:spcBef>
                <a:spcPts val="0"/>
              </a:spcBef>
              <a:spcAft>
                <a:spcPts val="0"/>
              </a:spcAft>
            </a:pPr>
            <a:r>
              <a:rPr sz="1700" b="1">
                <a:solidFill>
                  <a:srgbClr val="FFFFFF"/>
                </a:solidFill>
                <a:latin typeface="Aptos"/>
              </a:rPr>
              <a:t>4</a:t>
            </a:r>
          </a:p>
        </p:txBody>
      </p:sp>
      <p:sp>
        <p:nvSpPr>
          <p:cNvPr id="32" name="TextBox 31"/>
          <p:cNvSpPr txBox="1"/>
          <p:nvPr/>
        </p:nvSpPr>
        <p:spPr>
          <a:xfrm>
            <a:off x="7662671" y="3154680"/>
            <a:ext cx="1810512" cy="320040"/>
          </a:xfrm>
          <a:prstGeom prst="rect">
            <a:avLst/>
          </a:prstGeom>
          <a:noFill/>
        </p:spPr>
        <p:txBody>
          <a:bodyPr wrap="square" lIns="18288" tIns="18288" rIns="18288" bIns="18288" anchor="ctr">
            <a:spAutoFit/>
          </a:bodyPr>
          <a:lstStyle/>
          <a:p>
            <a:pPr algn="ctr">
              <a:spcBef>
                <a:spcPts val="0"/>
              </a:spcBef>
              <a:spcAft>
                <a:spcPts val="0"/>
              </a:spcAft>
            </a:pPr>
            <a:r>
              <a:rPr sz="1720" b="1">
                <a:solidFill>
                  <a:srgbClr val="13283F"/>
                </a:solidFill>
                <a:latin typeface="Aptos"/>
              </a:rPr>
              <a:t>CHECK &amp; ACT</a:t>
            </a:r>
          </a:p>
        </p:txBody>
      </p:sp>
      <p:sp>
        <p:nvSpPr>
          <p:cNvPr id="33" name="TextBox 32"/>
          <p:cNvSpPr txBox="1"/>
          <p:nvPr/>
        </p:nvSpPr>
        <p:spPr>
          <a:xfrm>
            <a:off x="7635240" y="3566160"/>
            <a:ext cx="1828800" cy="237744"/>
          </a:xfrm>
          <a:prstGeom prst="rect">
            <a:avLst/>
          </a:prstGeom>
          <a:noFill/>
        </p:spPr>
        <p:txBody>
          <a:bodyPr wrap="square" lIns="18288" tIns="18288" rIns="18288" bIns="18288" anchor="ctr">
            <a:spAutoFit/>
          </a:bodyPr>
          <a:lstStyle/>
          <a:p>
            <a:pPr algn="ctr">
              <a:spcBef>
                <a:spcPts val="0"/>
              </a:spcBef>
              <a:spcAft>
                <a:spcPts val="0"/>
              </a:spcAft>
            </a:pPr>
            <a:r>
              <a:rPr sz="1080" b="1">
                <a:solidFill>
                  <a:srgbClr val="1569C7"/>
                </a:solidFill>
                <a:latin typeface="Aptos"/>
              </a:rPr>
              <a:t>HUMAN</a:t>
            </a:r>
          </a:p>
        </p:txBody>
      </p:sp>
      <p:sp>
        <p:nvSpPr>
          <p:cNvPr id="34" name="TextBox 33"/>
          <p:cNvSpPr txBox="1"/>
          <p:nvPr/>
        </p:nvSpPr>
        <p:spPr>
          <a:xfrm>
            <a:off x="7680959" y="4005072"/>
            <a:ext cx="1783080" cy="758952"/>
          </a:xfrm>
          <a:prstGeom prst="rect">
            <a:avLst/>
          </a:prstGeom>
          <a:noFill/>
        </p:spPr>
        <p:txBody>
          <a:bodyPr wrap="square" lIns="18288" tIns="18288" rIns="18288" bIns="18288" anchor="ctr">
            <a:spAutoFit/>
          </a:bodyPr>
          <a:lstStyle/>
          <a:p>
            <a:pPr algn="ctr">
              <a:spcBef>
                <a:spcPts val="0"/>
              </a:spcBef>
              <a:spcAft>
                <a:spcPts val="0"/>
              </a:spcAft>
            </a:pPr>
            <a:r>
              <a:rPr sz="1410" b="0">
                <a:solidFill>
                  <a:srgbClr val="172B45"/>
                </a:solidFill>
                <a:latin typeface="Aptos"/>
              </a:rPr>
              <a:t>Review flagged salons and choose action.</a:t>
            </a:r>
          </a:p>
        </p:txBody>
      </p:sp>
      <p:sp>
        <p:nvSpPr>
          <p:cNvPr id="35" name="TextBox 34"/>
          <p:cNvSpPr txBox="1"/>
          <p:nvPr/>
        </p:nvSpPr>
        <p:spPr>
          <a:xfrm>
            <a:off x="9601200" y="2962656"/>
            <a:ext cx="246888" cy="310896"/>
          </a:xfrm>
          <a:prstGeom prst="rect">
            <a:avLst/>
          </a:prstGeom>
          <a:noFill/>
        </p:spPr>
        <p:txBody>
          <a:bodyPr wrap="square" lIns="18288" tIns="18288" rIns="18288" bIns="18288" anchor="ctr">
            <a:spAutoFit/>
          </a:bodyPr>
          <a:lstStyle/>
          <a:p>
            <a:pPr>
              <a:spcBef>
                <a:spcPts val="0"/>
              </a:spcBef>
              <a:spcAft>
                <a:spcPts val="0"/>
              </a:spcAft>
            </a:pPr>
            <a:r>
              <a:rPr sz="1750" b="1">
                <a:solidFill>
                  <a:srgbClr val="63788C"/>
                </a:solidFill>
                <a:latin typeface="Aptos"/>
              </a:rPr>
              <a:t>→</a:t>
            </a:r>
          </a:p>
        </p:txBody>
      </p:sp>
      <p:sp>
        <p:nvSpPr>
          <p:cNvPr id="36" name="Rounded Rectangle 35"/>
          <p:cNvSpPr/>
          <p:nvPr/>
        </p:nvSpPr>
        <p:spPr>
          <a:xfrm>
            <a:off x="9829800" y="2112264"/>
            <a:ext cx="2130552" cy="3026664"/>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561320" y="2304288"/>
            <a:ext cx="603504" cy="603504"/>
          </a:xfrm>
          <a:prstGeom prst="ellipse">
            <a:avLst/>
          </a:prstGeom>
          <a:solidFill>
            <a:srgbClr val="1569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689336" y="2404872"/>
            <a:ext cx="356616" cy="292608"/>
          </a:xfrm>
          <a:prstGeom prst="rect">
            <a:avLst/>
          </a:prstGeom>
          <a:noFill/>
        </p:spPr>
        <p:txBody>
          <a:bodyPr wrap="square" lIns="18288" tIns="18288" rIns="18288" bIns="18288" anchor="ctr">
            <a:spAutoFit/>
          </a:bodyPr>
          <a:lstStyle/>
          <a:p>
            <a:pPr algn="ctr">
              <a:spcBef>
                <a:spcPts val="0"/>
              </a:spcBef>
              <a:spcAft>
                <a:spcPts val="0"/>
              </a:spcAft>
            </a:pPr>
            <a:r>
              <a:rPr sz="1700" b="1">
                <a:solidFill>
                  <a:srgbClr val="FFFFFF"/>
                </a:solidFill>
                <a:latin typeface="Aptos"/>
              </a:rPr>
              <a:t>5</a:t>
            </a:r>
          </a:p>
        </p:txBody>
      </p:sp>
      <p:sp>
        <p:nvSpPr>
          <p:cNvPr id="39" name="TextBox 38"/>
          <p:cNvSpPr txBox="1"/>
          <p:nvPr/>
        </p:nvSpPr>
        <p:spPr>
          <a:xfrm>
            <a:off x="9994392" y="3154680"/>
            <a:ext cx="1810512" cy="320040"/>
          </a:xfrm>
          <a:prstGeom prst="rect">
            <a:avLst/>
          </a:prstGeom>
          <a:noFill/>
        </p:spPr>
        <p:txBody>
          <a:bodyPr wrap="square" lIns="18288" tIns="18288" rIns="18288" bIns="18288" anchor="ctr">
            <a:spAutoFit/>
          </a:bodyPr>
          <a:lstStyle/>
          <a:p>
            <a:pPr algn="ctr">
              <a:spcBef>
                <a:spcPts val="0"/>
              </a:spcBef>
              <a:spcAft>
                <a:spcPts val="0"/>
              </a:spcAft>
            </a:pPr>
            <a:r>
              <a:rPr sz="1720" b="1">
                <a:solidFill>
                  <a:srgbClr val="13283F"/>
                </a:solidFill>
                <a:latin typeface="Aptos"/>
              </a:rPr>
              <a:t>PROVE</a:t>
            </a:r>
          </a:p>
        </p:txBody>
      </p:sp>
      <p:sp>
        <p:nvSpPr>
          <p:cNvPr id="40" name="TextBox 39"/>
          <p:cNvSpPr txBox="1"/>
          <p:nvPr/>
        </p:nvSpPr>
        <p:spPr>
          <a:xfrm>
            <a:off x="9966960" y="3566160"/>
            <a:ext cx="1828800" cy="237744"/>
          </a:xfrm>
          <a:prstGeom prst="rect">
            <a:avLst/>
          </a:prstGeom>
          <a:noFill/>
        </p:spPr>
        <p:txBody>
          <a:bodyPr wrap="square" lIns="18288" tIns="18288" rIns="18288" bIns="18288" anchor="ctr">
            <a:spAutoFit/>
          </a:bodyPr>
          <a:lstStyle/>
          <a:p>
            <a:pPr algn="ctr">
              <a:spcBef>
                <a:spcPts val="0"/>
              </a:spcBef>
              <a:spcAft>
                <a:spcPts val="0"/>
              </a:spcAft>
            </a:pPr>
            <a:r>
              <a:rPr sz="1080" b="1">
                <a:solidFill>
                  <a:srgbClr val="1569C7"/>
                </a:solidFill>
                <a:latin typeface="Aptos"/>
              </a:rPr>
              <a:t>PILOT</a:t>
            </a:r>
          </a:p>
        </p:txBody>
      </p:sp>
      <p:sp>
        <p:nvSpPr>
          <p:cNvPr id="41" name="TextBox 40"/>
          <p:cNvSpPr txBox="1"/>
          <p:nvPr/>
        </p:nvSpPr>
        <p:spPr>
          <a:xfrm>
            <a:off x="10012680" y="4005072"/>
            <a:ext cx="1783080" cy="758952"/>
          </a:xfrm>
          <a:prstGeom prst="rect">
            <a:avLst/>
          </a:prstGeom>
          <a:noFill/>
        </p:spPr>
        <p:txBody>
          <a:bodyPr wrap="square" lIns="18288" tIns="18288" rIns="18288" bIns="18288" anchor="ctr">
            <a:spAutoFit/>
          </a:bodyPr>
          <a:lstStyle/>
          <a:p>
            <a:pPr algn="ctr">
              <a:spcBef>
                <a:spcPts val="0"/>
              </a:spcBef>
              <a:spcAft>
                <a:spcPts val="0"/>
              </a:spcAft>
            </a:pPr>
            <a:r>
              <a:rPr sz="1410" b="0">
                <a:solidFill>
                  <a:srgbClr val="172B45"/>
                </a:solidFill>
                <a:latin typeface="Aptos"/>
              </a:rPr>
              <a:t>Compare paid visits with a control.</a:t>
            </a:r>
          </a:p>
        </p:txBody>
      </p:sp>
      <p:sp>
        <p:nvSpPr>
          <p:cNvPr id="42" name="Rounded Rectangle 41"/>
          <p:cNvSpPr/>
          <p:nvPr/>
        </p:nvSpPr>
        <p:spPr>
          <a:xfrm>
            <a:off x="512064" y="5376672"/>
            <a:ext cx="11082528" cy="612648"/>
          </a:xfrm>
          <a:prstGeom prst="roundRect">
            <a:avLst/>
          </a:prstGeom>
          <a:solidFill>
            <a:srgbClr val="FEF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94944" y="5541264"/>
            <a:ext cx="10689336" cy="320040"/>
          </a:xfrm>
          <a:prstGeom prst="rect">
            <a:avLst/>
          </a:prstGeom>
          <a:noFill/>
        </p:spPr>
        <p:txBody>
          <a:bodyPr wrap="square" lIns="18288" tIns="18288" rIns="18288" bIns="18288" anchor="ctr">
            <a:spAutoFit/>
          </a:bodyPr>
          <a:lstStyle/>
          <a:p>
            <a:pPr>
              <a:spcBef>
                <a:spcPts val="0"/>
              </a:spcBef>
              <a:spcAft>
                <a:spcPts val="0"/>
              </a:spcAft>
            </a:pPr>
            <a:r>
              <a:rPr sz="1530" b="1">
                <a:solidFill>
                  <a:srgbClr val="13283F"/>
                </a:solidFill>
                <a:latin typeface="Aptos"/>
              </a:rPr>
              <a:t>ALERT POLICY  •  Proposed only after trustworthy data: “Repeat visits below baseline for 2 weeks. Review?”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84632" y="228600"/>
            <a:ext cx="10058400" cy="274320"/>
          </a:xfrm>
          <a:prstGeom prst="rect">
            <a:avLst/>
          </a:prstGeom>
          <a:noFill/>
        </p:spPr>
        <p:txBody>
          <a:bodyPr wrap="square" lIns="18288" tIns="18288" rIns="18288" bIns="18288" anchor="ctr">
            <a:spAutoFit/>
          </a:bodyPr>
          <a:lstStyle/>
          <a:p>
            <a:pPr>
              <a:spcBef>
                <a:spcPts val="0"/>
              </a:spcBef>
              <a:spcAft>
                <a:spcPts val="0"/>
              </a:spcAft>
            </a:pPr>
            <a:r>
              <a:rPr sz="1120" b="1">
                <a:solidFill>
                  <a:srgbClr val="007E78"/>
                </a:solidFill>
                <a:latin typeface="Aptos"/>
              </a:rPr>
              <a:t>ARJUN → MEERA · DATA PLATFORM</a:t>
            </a:r>
          </a:p>
        </p:txBody>
      </p:sp>
      <p:sp>
        <p:nvSpPr>
          <p:cNvPr id="5" name="TextBox 4"/>
          <p:cNvSpPr txBox="1"/>
          <p:nvPr/>
        </p:nvSpPr>
        <p:spPr>
          <a:xfrm>
            <a:off x="484632" y="667512"/>
            <a:ext cx="11155680" cy="502920"/>
          </a:xfrm>
          <a:prstGeom prst="rect">
            <a:avLst/>
          </a:prstGeom>
          <a:noFill/>
        </p:spPr>
        <p:txBody>
          <a:bodyPr wrap="square" lIns="18288" tIns="18288" rIns="18288" bIns="18288" anchor="ctr">
            <a:spAutoFit/>
          </a:bodyPr>
          <a:lstStyle/>
          <a:p>
            <a:pPr>
              <a:spcBef>
                <a:spcPts val="0"/>
              </a:spcBef>
              <a:spcAft>
                <a:spcPts val="0"/>
              </a:spcAft>
            </a:pPr>
            <a:r>
              <a:rPr sz="2800" b="1">
                <a:solidFill>
                  <a:srgbClr val="13283F"/>
                </a:solidFill>
                <a:latin typeface="Aptos"/>
              </a:rPr>
              <a:t>Fresh advice starts with trusted source data</a:t>
            </a:r>
          </a:p>
        </p:txBody>
      </p:sp>
      <p:sp>
        <p:nvSpPr>
          <p:cNvPr id="6" name="TextBox 5"/>
          <p:cNvSpPr txBox="1"/>
          <p:nvPr/>
        </p:nvSpPr>
        <p:spPr>
          <a:xfrm>
            <a:off x="493776" y="1252728"/>
            <a:ext cx="11064240" cy="429768"/>
          </a:xfrm>
          <a:prstGeom prst="rect">
            <a:avLst/>
          </a:prstGeom>
          <a:noFill/>
        </p:spPr>
        <p:txBody>
          <a:bodyPr wrap="square" lIns="18288" tIns="18288" rIns="18288" bIns="18288" anchor="ctr">
            <a:spAutoFit/>
          </a:bodyPr>
          <a:lstStyle/>
          <a:p>
            <a:pPr>
              <a:spcBef>
                <a:spcPts val="0"/>
              </a:spcBef>
              <a:spcAft>
                <a:spcPts val="0"/>
              </a:spcAft>
            </a:pPr>
            <a:r>
              <a:rPr sz="1570" b="0">
                <a:solidFill>
                  <a:srgbClr val="63788C"/>
                </a:solidFill>
                <a:latin typeface="Aptos"/>
              </a:rPr>
              <a:t>Two clocks matter: when source data last changed, and when the AI analysis last ran.</a:t>
            </a:r>
          </a:p>
        </p:txBody>
      </p:sp>
      <p:sp>
        <p:nvSpPr>
          <p:cNvPr id="7" name="TextBox 6"/>
          <p:cNvSpPr txBox="1"/>
          <p:nvPr/>
        </p:nvSpPr>
        <p:spPr>
          <a:xfrm>
            <a:off x="11274552" y="6437376"/>
            <a:ext cx="438912" cy="219456"/>
          </a:xfrm>
          <a:prstGeom prst="rect">
            <a:avLst/>
          </a:prstGeom>
          <a:noFill/>
        </p:spPr>
        <p:txBody>
          <a:bodyPr wrap="square" lIns="18288" tIns="18288" rIns="18288" bIns="18288" anchor="ctr">
            <a:spAutoFit/>
          </a:bodyPr>
          <a:lstStyle/>
          <a:p>
            <a:pPr algn="r">
              <a:spcBef>
                <a:spcPts val="0"/>
              </a:spcBef>
              <a:spcAft>
                <a:spcPts val="0"/>
              </a:spcAft>
            </a:pPr>
            <a:r>
              <a:rPr sz="1050" b="1">
                <a:solidFill>
                  <a:srgbClr val="63788C"/>
                </a:solidFill>
                <a:latin typeface="Aptos"/>
              </a:rPr>
              <a:t>07</a:t>
            </a:r>
          </a:p>
        </p:txBody>
      </p:sp>
      <p:sp>
        <p:nvSpPr>
          <p:cNvPr id="8" name="Rounded Rectangle 7"/>
          <p:cNvSpPr/>
          <p:nvPr/>
        </p:nvSpPr>
        <p:spPr>
          <a:xfrm>
            <a:off x="512064" y="1975104"/>
            <a:ext cx="2587752" cy="2660904"/>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12064" y="1975104"/>
            <a:ext cx="2587752" cy="457200"/>
          </a:xfrm>
          <a:prstGeom prst="rect">
            <a:avLst/>
          </a:prstGeom>
          <a:solidFill>
            <a:srgbClr val="E8F1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 y="2075688"/>
            <a:ext cx="2331720" cy="265176"/>
          </a:xfrm>
          <a:prstGeom prst="rect">
            <a:avLst/>
          </a:prstGeom>
          <a:noFill/>
        </p:spPr>
        <p:txBody>
          <a:bodyPr wrap="square" lIns="18288" tIns="18288" rIns="18288" bIns="18288" anchor="ctr">
            <a:spAutoFit/>
          </a:bodyPr>
          <a:lstStyle/>
          <a:p>
            <a:pPr>
              <a:spcBef>
                <a:spcPts val="0"/>
              </a:spcBef>
              <a:spcAft>
                <a:spcPts val="0"/>
              </a:spcAft>
            </a:pPr>
            <a:r>
              <a:rPr sz="1410" b="1">
                <a:solidFill>
                  <a:srgbClr val="1569C7"/>
                </a:solidFill>
                <a:latin typeface="Aptos"/>
              </a:rPr>
              <a:t>1 · SALON EVENTS</a:t>
            </a:r>
          </a:p>
        </p:txBody>
      </p:sp>
      <p:sp>
        <p:nvSpPr>
          <p:cNvPr id="11" name="TextBox 10"/>
          <p:cNvSpPr txBox="1"/>
          <p:nvPr/>
        </p:nvSpPr>
        <p:spPr>
          <a:xfrm>
            <a:off x="667512" y="2679192"/>
            <a:ext cx="2304288" cy="384048"/>
          </a:xfrm>
          <a:prstGeom prst="rect">
            <a:avLst/>
          </a:prstGeom>
          <a:noFill/>
        </p:spPr>
        <p:txBody>
          <a:bodyPr wrap="square" lIns="18288" tIns="18288" rIns="18288" bIns="18288" anchor="ctr">
            <a:spAutoFit/>
          </a:bodyPr>
          <a:lstStyle/>
          <a:p>
            <a:pPr>
              <a:spcBef>
                <a:spcPts val="0"/>
              </a:spcBef>
              <a:spcAft>
                <a:spcPts val="0"/>
              </a:spcAft>
            </a:pPr>
            <a:r>
              <a:rPr sz="1350" b="0">
                <a:solidFill>
                  <a:srgbClr val="13283F"/>
                </a:solidFill>
                <a:latin typeface="Aptos"/>
              </a:rPr>
              <a:t>• Appointments</a:t>
            </a:r>
          </a:p>
        </p:txBody>
      </p:sp>
      <p:sp>
        <p:nvSpPr>
          <p:cNvPr id="12" name="TextBox 11"/>
          <p:cNvSpPr txBox="1"/>
          <p:nvPr/>
        </p:nvSpPr>
        <p:spPr>
          <a:xfrm>
            <a:off x="667512" y="3182112"/>
            <a:ext cx="2304288" cy="384048"/>
          </a:xfrm>
          <a:prstGeom prst="rect">
            <a:avLst/>
          </a:prstGeom>
          <a:noFill/>
        </p:spPr>
        <p:txBody>
          <a:bodyPr wrap="square" lIns="18288" tIns="18288" rIns="18288" bIns="18288" anchor="ctr">
            <a:spAutoFit/>
          </a:bodyPr>
          <a:lstStyle/>
          <a:p>
            <a:pPr>
              <a:spcBef>
                <a:spcPts val="0"/>
              </a:spcBef>
              <a:spcAft>
                <a:spcPts val="0"/>
              </a:spcAft>
            </a:pPr>
            <a:r>
              <a:rPr sz="1350" b="0">
                <a:solidFill>
                  <a:srgbClr val="13283F"/>
                </a:solidFill>
                <a:latin typeface="Aptos"/>
              </a:rPr>
              <a:t>• Paid visits &amp; refunds</a:t>
            </a:r>
          </a:p>
        </p:txBody>
      </p:sp>
      <p:sp>
        <p:nvSpPr>
          <p:cNvPr id="13" name="TextBox 12"/>
          <p:cNvSpPr txBox="1"/>
          <p:nvPr/>
        </p:nvSpPr>
        <p:spPr>
          <a:xfrm>
            <a:off x="667512" y="3685032"/>
            <a:ext cx="2304288" cy="384048"/>
          </a:xfrm>
          <a:prstGeom prst="rect">
            <a:avLst/>
          </a:prstGeom>
          <a:noFill/>
        </p:spPr>
        <p:txBody>
          <a:bodyPr wrap="square" lIns="18288" tIns="18288" rIns="18288" bIns="18288" anchor="ctr">
            <a:spAutoFit/>
          </a:bodyPr>
          <a:lstStyle/>
          <a:p>
            <a:pPr>
              <a:spcBef>
                <a:spcPts val="0"/>
              </a:spcBef>
              <a:spcAft>
                <a:spcPts val="0"/>
              </a:spcAft>
            </a:pPr>
            <a:r>
              <a:rPr sz="1350" b="0">
                <a:solidFill>
                  <a:srgbClr val="13283F"/>
                </a:solidFill>
                <a:latin typeface="Aptos"/>
              </a:rPr>
              <a:t>• Staff hours &amp; products</a:t>
            </a:r>
          </a:p>
        </p:txBody>
      </p:sp>
      <p:sp>
        <p:nvSpPr>
          <p:cNvPr id="14" name="TextBox 13"/>
          <p:cNvSpPr txBox="1"/>
          <p:nvPr/>
        </p:nvSpPr>
        <p:spPr>
          <a:xfrm>
            <a:off x="3090672" y="3063240"/>
            <a:ext cx="292608" cy="301752"/>
          </a:xfrm>
          <a:prstGeom prst="rect">
            <a:avLst/>
          </a:prstGeom>
          <a:noFill/>
        </p:spPr>
        <p:txBody>
          <a:bodyPr wrap="square" lIns="18288" tIns="18288" rIns="18288" bIns="18288" anchor="ctr">
            <a:spAutoFit/>
          </a:bodyPr>
          <a:lstStyle/>
          <a:p>
            <a:pPr>
              <a:spcBef>
                <a:spcPts val="0"/>
              </a:spcBef>
              <a:spcAft>
                <a:spcPts val="0"/>
              </a:spcAft>
            </a:pPr>
            <a:r>
              <a:rPr sz="2000" b="1">
                <a:solidFill>
                  <a:srgbClr val="63788C"/>
                </a:solidFill>
                <a:latin typeface="Aptos"/>
              </a:rPr>
              <a:t>→</a:t>
            </a:r>
          </a:p>
        </p:txBody>
      </p:sp>
      <p:sp>
        <p:nvSpPr>
          <p:cNvPr id="15" name="Rounded Rectangle 14"/>
          <p:cNvSpPr/>
          <p:nvPr/>
        </p:nvSpPr>
        <p:spPr>
          <a:xfrm>
            <a:off x="3364992" y="1975104"/>
            <a:ext cx="2587752" cy="2660904"/>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64992" y="1975104"/>
            <a:ext cx="2587752" cy="457200"/>
          </a:xfrm>
          <a:prstGeom prst="rect">
            <a:avLst/>
          </a:prstGeom>
          <a:solidFill>
            <a:srgbClr val="DC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20440" y="2075688"/>
            <a:ext cx="2331720" cy="265176"/>
          </a:xfrm>
          <a:prstGeom prst="rect">
            <a:avLst/>
          </a:prstGeom>
          <a:noFill/>
        </p:spPr>
        <p:txBody>
          <a:bodyPr wrap="square" lIns="18288" tIns="18288" rIns="18288" bIns="18288" anchor="ctr">
            <a:spAutoFit/>
          </a:bodyPr>
          <a:lstStyle/>
          <a:p>
            <a:pPr>
              <a:spcBef>
                <a:spcPts val="0"/>
              </a:spcBef>
              <a:spcAft>
                <a:spcPts val="0"/>
              </a:spcAft>
            </a:pPr>
            <a:r>
              <a:rPr sz="1410" b="1">
                <a:solidFill>
                  <a:srgbClr val="007E78"/>
                </a:solidFill>
                <a:latin typeface="Aptos"/>
              </a:rPr>
              <a:t>2 · TRUSTED METRICS</a:t>
            </a:r>
          </a:p>
        </p:txBody>
      </p:sp>
      <p:sp>
        <p:nvSpPr>
          <p:cNvPr id="18" name="TextBox 17"/>
          <p:cNvSpPr txBox="1"/>
          <p:nvPr/>
        </p:nvSpPr>
        <p:spPr>
          <a:xfrm>
            <a:off x="3520440" y="2679192"/>
            <a:ext cx="2304288" cy="384048"/>
          </a:xfrm>
          <a:prstGeom prst="rect">
            <a:avLst/>
          </a:prstGeom>
          <a:noFill/>
        </p:spPr>
        <p:txBody>
          <a:bodyPr wrap="square" lIns="18288" tIns="18288" rIns="18288" bIns="18288" anchor="ctr">
            <a:spAutoFit/>
          </a:bodyPr>
          <a:lstStyle/>
          <a:p>
            <a:pPr>
              <a:spcBef>
                <a:spcPts val="0"/>
              </a:spcBef>
              <a:spcAft>
                <a:spcPts val="0"/>
              </a:spcAft>
            </a:pPr>
            <a:r>
              <a:rPr sz="1350" b="0">
                <a:solidFill>
                  <a:srgbClr val="13283F"/>
                </a:solidFill>
                <a:latin typeface="Aptos"/>
              </a:rPr>
              <a:t>• Existing lake/warehouse</a:t>
            </a:r>
          </a:p>
        </p:txBody>
      </p:sp>
      <p:sp>
        <p:nvSpPr>
          <p:cNvPr id="19" name="TextBox 18"/>
          <p:cNvSpPr txBox="1"/>
          <p:nvPr/>
        </p:nvSpPr>
        <p:spPr>
          <a:xfrm>
            <a:off x="3520440" y="3182112"/>
            <a:ext cx="2304288" cy="384048"/>
          </a:xfrm>
          <a:prstGeom prst="rect">
            <a:avLst/>
          </a:prstGeom>
          <a:noFill/>
        </p:spPr>
        <p:txBody>
          <a:bodyPr wrap="square" lIns="18288" tIns="18288" rIns="18288" bIns="18288" anchor="ctr">
            <a:spAutoFit/>
          </a:bodyPr>
          <a:lstStyle/>
          <a:p>
            <a:pPr>
              <a:spcBef>
                <a:spcPts val="0"/>
              </a:spcBef>
              <a:spcAft>
                <a:spcPts val="0"/>
              </a:spcAft>
            </a:pPr>
            <a:r>
              <a:rPr sz="1350" b="0">
                <a:solidFill>
                  <a:srgbClr val="13283F"/>
                </a:solidFill>
                <a:latin typeface="Aptos"/>
              </a:rPr>
              <a:t>• Verified KPI definitions</a:t>
            </a:r>
          </a:p>
        </p:txBody>
      </p:sp>
      <p:sp>
        <p:nvSpPr>
          <p:cNvPr id="20" name="TextBox 19"/>
          <p:cNvSpPr txBox="1"/>
          <p:nvPr/>
        </p:nvSpPr>
        <p:spPr>
          <a:xfrm>
            <a:off x="3520440" y="3685032"/>
            <a:ext cx="2304288" cy="384048"/>
          </a:xfrm>
          <a:prstGeom prst="rect">
            <a:avLst/>
          </a:prstGeom>
          <a:noFill/>
        </p:spPr>
        <p:txBody>
          <a:bodyPr wrap="square" lIns="18288" tIns="18288" rIns="18288" bIns="18288" anchor="ctr">
            <a:spAutoFit/>
          </a:bodyPr>
          <a:lstStyle/>
          <a:p>
            <a:pPr>
              <a:spcBef>
                <a:spcPts val="0"/>
              </a:spcBef>
              <a:spcAft>
                <a:spcPts val="0"/>
              </a:spcAft>
            </a:pPr>
            <a:r>
              <a:rPr sz="1350" b="0">
                <a:solidFill>
                  <a:srgbClr val="13283F"/>
                </a:solidFill>
                <a:latin typeface="Aptos"/>
              </a:rPr>
              <a:t>• Reconcile &amp; version</a:t>
            </a:r>
          </a:p>
        </p:txBody>
      </p:sp>
      <p:sp>
        <p:nvSpPr>
          <p:cNvPr id="21" name="TextBox 20"/>
          <p:cNvSpPr txBox="1"/>
          <p:nvPr/>
        </p:nvSpPr>
        <p:spPr>
          <a:xfrm>
            <a:off x="5943600" y="3063240"/>
            <a:ext cx="292608" cy="301752"/>
          </a:xfrm>
          <a:prstGeom prst="rect">
            <a:avLst/>
          </a:prstGeom>
          <a:noFill/>
        </p:spPr>
        <p:txBody>
          <a:bodyPr wrap="square" lIns="18288" tIns="18288" rIns="18288" bIns="18288" anchor="ctr">
            <a:spAutoFit/>
          </a:bodyPr>
          <a:lstStyle/>
          <a:p>
            <a:pPr>
              <a:spcBef>
                <a:spcPts val="0"/>
              </a:spcBef>
              <a:spcAft>
                <a:spcPts val="0"/>
              </a:spcAft>
            </a:pPr>
            <a:r>
              <a:rPr sz="2000" b="1">
                <a:solidFill>
                  <a:srgbClr val="63788C"/>
                </a:solidFill>
                <a:latin typeface="Aptos"/>
              </a:rPr>
              <a:t>→</a:t>
            </a:r>
          </a:p>
        </p:txBody>
      </p:sp>
      <p:sp>
        <p:nvSpPr>
          <p:cNvPr id="22" name="Rounded Rectangle 21"/>
          <p:cNvSpPr/>
          <p:nvPr/>
        </p:nvSpPr>
        <p:spPr>
          <a:xfrm>
            <a:off x="6227064" y="1975104"/>
            <a:ext cx="2587752" cy="2660904"/>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27064" y="1975104"/>
            <a:ext cx="2587752" cy="457200"/>
          </a:xfrm>
          <a:prstGeom prst="rect">
            <a:avLst/>
          </a:prstGeom>
          <a:solidFill>
            <a:srgbClr val="FEF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82512" y="2075688"/>
            <a:ext cx="2331720" cy="265176"/>
          </a:xfrm>
          <a:prstGeom prst="rect">
            <a:avLst/>
          </a:prstGeom>
          <a:noFill/>
        </p:spPr>
        <p:txBody>
          <a:bodyPr wrap="square" lIns="18288" tIns="18288" rIns="18288" bIns="18288" anchor="ctr">
            <a:spAutoFit/>
          </a:bodyPr>
          <a:lstStyle/>
          <a:p>
            <a:pPr>
              <a:spcBef>
                <a:spcPts val="0"/>
              </a:spcBef>
              <a:spcAft>
                <a:spcPts val="0"/>
              </a:spcAft>
            </a:pPr>
            <a:r>
              <a:rPr sz="1410" b="1">
                <a:solidFill>
                  <a:srgbClr val="B56812"/>
                </a:solidFill>
                <a:latin typeface="Aptos"/>
              </a:rPr>
              <a:t>3 · ADVISOR + RERUN</a:t>
            </a:r>
          </a:p>
        </p:txBody>
      </p:sp>
      <p:sp>
        <p:nvSpPr>
          <p:cNvPr id="25" name="TextBox 24"/>
          <p:cNvSpPr txBox="1"/>
          <p:nvPr/>
        </p:nvSpPr>
        <p:spPr>
          <a:xfrm>
            <a:off x="6382512" y="2679192"/>
            <a:ext cx="2304288" cy="384048"/>
          </a:xfrm>
          <a:prstGeom prst="rect">
            <a:avLst/>
          </a:prstGeom>
          <a:noFill/>
        </p:spPr>
        <p:txBody>
          <a:bodyPr wrap="square" lIns="18288" tIns="18288" rIns="18288" bIns="18288" anchor="ctr">
            <a:spAutoFit/>
          </a:bodyPr>
          <a:lstStyle/>
          <a:p>
            <a:pPr>
              <a:spcBef>
                <a:spcPts val="0"/>
              </a:spcBef>
              <a:spcAft>
                <a:spcPts val="0"/>
              </a:spcAft>
            </a:pPr>
            <a:r>
              <a:rPr sz="1350" b="0">
                <a:solidFill>
                  <a:srgbClr val="13283F"/>
                </a:solidFill>
                <a:latin typeface="Aptos"/>
              </a:rPr>
              <a:t>• Already: ask and explain</a:t>
            </a:r>
          </a:p>
        </p:txBody>
      </p:sp>
      <p:sp>
        <p:nvSpPr>
          <p:cNvPr id="26" name="TextBox 25"/>
          <p:cNvSpPr txBox="1"/>
          <p:nvPr/>
        </p:nvSpPr>
        <p:spPr>
          <a:xfrm>
            <a:off x="6382512" y="3182112"/>
            <a:ext cx="2304288" cy="384048"/>
          </a:xfrm>
          <a:prstGeom prst="rect">
            <a:avLst/>
          </a:prstGeom>
          <a:noFill/>
        </p:spPr>
        <p:txBody>
          <a:bodyPr wrap="square" lIns="18288" tIns="18288" rIns="18288" bIns="18288" anchor="ctr">
            <a:spAutoFit/>
          </a:bodyPr>
          <a:lstStyle/>
          <a:p>
            <a:pPr>
              <a:spcBef>
                <a:spcPts val="0"/>
              </a:spcBef>
              <a:spcAft>
                <a:spcPts val="0"/>
              </a:spcAft>
            </a:pPr>
            <a:r>
              <a:rPr sz="1350" b="0">
                <a:solidFill>
                  <a:srgbClr val="13283F"/>
                </a:solidFill>
                <a:latin typeface="Aptos"/>
              </a:rPr>
              <a:t>• Proposed: scheduled tile</a:t>
            </a:r>
          </a:p>
        </p:txBody>
      </p:sp>
      <p:sp>
        <p:nvSpPr>
          <p:cNvPr id="27" name="TextBox 26"/>
          <p:cNvSpPr txBox="1"/>
          <p:nvPr/>
        </p:nvSpPr>
        <p:spPr>
          <a:xfrm>
            <a:off x="6382512" y="3685032"/>
            <a:ext cx="2304288" cy="384048"/>
          </a:xfrm>
          <a:prstGeom prst="rect">
            <a:avLst/>
          </a:prstGeom>
          <a:noFill/>
        </p:spPr>
        <p:txBody>
          <a:bodyPr wrap="square" lIns="18288" tIns="18288" rIns="18288" bIns="18288" anchor="ctr">
            <a:spAutoFit/>
          </a:bodyPr>
          <a:lstStyle/>
          <a:p>
            <a:pPr>
              <a:spcBef>
                <a:spcPts val="0"/>
              </a:spcBef>
              <a:spcAft>
                <a:spcPts val="0"/>
              </a:spcAft>
            </a:pPr>
            <a:r>
              <a:rPr sz="1350" b="0">
                <a:solidFill>
                  <a:srgbClr val="13283F"/>
                </a:solidFill>
                <a:latin typeface="Aptos"/>
              </a:rPr>
              <a:t>• Cost-aware query routing</a:t>
            </a:r>
          </a:p>
        </p:txBody>
      </p:sp>
      <p:sp>
        <p:nvSpPr>
          <p:cNvPr id="28" name="TextBox 27"/>
          <p:cNvSpPr txBox="1"/>
          <p:nvPr/>
        </p:nvSpPr>
        <p:spPr>
          <a:xfrm>
            <a:off x="8805672" y="3063240"/>
            <a:ext cx="292608" cy="301752"/>
          </a:xfrm>
          <a:prstGeom prst="rect">
            <a:avLst/>
          </a:prstGeom>
          <a:noFill/>
        </p:spPr>
        <p:txBody>
          <a:bodyPr wrap="square" lIns="18288" tIns="18288" rIns="18288" bIns="18288" anchor="ctr">
            <a:spAutoFit/>
          </a:bodyPr>
          <a:lstStyle/>
          <a:p>
            <a:pPr>
              <a:spcBef>
                <a:spcPts val="0"/>
              </a:spcBef>
              <a:spcAft>
                <a:spcPts val="0"/>
              </a:spcAft>
            </a:pPr>
            <a:r>
              <a:rPr sz="2000" b="1">
                <a:solidFill>
                  <a:srgbClr val="63788C"/>
                </a:solidFill>
                <a:latin typeface="Aptos"/>
              </a:rPr>
              <a:t>→</a:t>
            </a:r>
          </a:p>
        </p:txBody>
      </p:sp>
      <p:sp>
        <p:nvSpPr>
          <p:cNvPr id="29" name="Rounded Rectangle 28"/>
          <p:cNvSpPr/>
          <p:nvPr/>
        </p:nvSpPr>
        <p:spPr>
          <a:xfrm>
            <a:off x="9079992" y="1975104"/>
            <a:ext cx="2587752" cy="2660904"/>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079992" y="1975104"/>
            <a:ext cx="2587752" cy="457200"/>
          </a:xfrm>
          <a:prstGeom prst="rect">
            <a:avLst/>
          </a:prstGeom>
          <a:solidFill>
            <a:srgbClr val="DEF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235440" y="2075688"/>
            <a:ext cx="2331720" cy="265176"/>
          </a:xfrm>
          <a:prstGeom prst="rect">
            <a:avLst/>
          </a:prstGeom>
          <a:noFill/>
        </p:spPr>
        <p:txBody>
          <a:bodyPr wrap="square" lIns="18288" tIns="18288" rIns="18288" bIns="18288" anchor="ctr">
            <a:spAutoFit/>
          </a:bodyPr>
          <a:lstStyle/>
          <a:p>
            <a:pPr>
              <a:spcBef>
                <a:spcPts val="0"/>
              </a:spcBef>
              <a:spcAft>
                <a:spcPts val="0"/>
              </a:spcAft>
            </a:pPr>
            <a:r>
              <a:rPr sz="1410" b="1">
                <a:solidFill>
                  <a:srgbClr val="187D54"/>
                </a:solidFill>
                <a:latin typeface="Aptos"/>
              </a:rPr>
              <a:t>4 · DECISIONS</a:t>
            </a:r>
          </a:p>
        </p:txBody>
      </p:sp>
      <p:sp>
        <p:nvSpPr>
          <p:cNvPr id="32" name="TextBox 31"/>
          <p:cNvSpPr txBox="1"/>
          <p:nvPr/>
        </p:nvSpPr>
        <p:spPr>
          <a:xfrm>
            <a:off x="9235440" y="2679192"/>
            <a:ext cx="2304288" cy="384048"/>
          </a:xfrm>
          <a:prstGeom prst="rect">
            <a:avLst/>
          </a:prstGeom>
          <a:noFill/>
        </p:spPr>
        <p:txBody>
          <a:bodyPr wrap="square" lIns="18288" tIns="18288" rIns="18288" bIns="18288" anchor="ctr">
            <a:spAutoFit/>
          </a:bodyPr>
          <a:lstStyle/>
          <a:p>
            <a:pPr>
              <a:spcBef>
                <a:spcPts val="0"/>
              </a:spcBef>
              <a:spcAft>
                <a:spcPts val="0"/>
              </a:spcAft>
            </a:pPr>
            <a:r>
              <a:rPr sz="1350" b="0">
                <a:solidFill>
                  <a:srgbClr val="13283F"/>
                </a:solidFill>
                <a:latin typeface="Aptos"/>
              </a:rPr>
              <a:t>• Arjun: investigates</a:t>
            </a:r>
          </a:p>
        </p:txBody>
      </p:sp>
      <p:sp>
        <p:nvSpPr>
          <p:cNvPr id="33" name="TextBox 32"/>
          <p:cNvSpPr txBox="1"/>
          <p:nvPr/>
        </p:nvSpPr>
        <p:spPr>
          <a:xfrm>
            <a:off x="9235440" y="3182112"/>
            <a:ext cx="2304288" cy="384048"/>
          </a:xfrm>
          <a:prstGeom prst="rect">
            <a:avLst/>
          </a:prstGeom>
          <a:noFill/>
        </p:spPr>
        <p:txBody>
          <a:bodyPr wrap="square" lIns="18288" tIns="18288" rIns="18288" bIns="18288" anchor="ctr">
            <a:spAutoFit/>
          </a:bodyPr>
          <a:lstStyle/>
          <a:p>
            <a:pPr>
              <a:spcBef>
                <a:spcPts val="0"/>
              </a:spcBef>
              <a:spcAft>
                <a:spcPts val="0"/>
              </a:spcAft>
            </a:pPr>
            <a:r>
              <a:rPr sz="1350" b="0">
                <a:solidFill>
                  <a:srgbClr val="13283F"/>
                </a:solidFill>
                <a:latin typeface="Aptos"/>
              </a:rPr>
              <a:t>• Meera: reviews results</a:t>
            </a:r>
          </a:p>
        </p:txBody>
      </p:sp>
      <p:sp>
        <p:nvSpPr>
          <p:cNvPr id="34" name="TextBox 33"/>
          <p:cNvSpPr txBox="1"/>
          <p:nvPr/>
        </p:nvSpPr>
        <p:spPr>
          <a:xfrm>
            <a:off x="9235440" y="3685032"/>
            <a:ext cx="2304288" cy="384048"/>
          </a:xfrm>
          <a:prstGeom prst="rect">
            <a:avLst/>
          </a:prstGeom>
          <a:noFill/>
        </p:spPr>
        <p:txBody>
          <a:bodyPr wrap="square" lIns="18288" tIns="18288" rIns="18288" bIns="18288" anchor="ctr">
            <a:spAutoFit/>
          </a:bodyPr>
          <a:lstStyle/>
          <a:p>
            <a:pPr>
              <a:spcBef>
                <a:spcPts val="0"/>
              </a:spcBef>
              <a:spcAft>
                <a:spcPts val="0"/>
              </a:spcAft>
            </a:pPr>
            <a:r>
              <a:rPr sz="1350" b="0">
                <a:solidFill>
                  <a:srgbClr val="13283F"/>
                </a:solidFill>
                <a:latin typeface="Aptos"/>
              </a:rPr>
              <a:t>• Neha: controls delivery</a:t>
            </a:r>
          </a:p>
        </p:txBody>
      </p:sp>
      <p:sp>
        <p:nvSpPr>
          <p:cNvPr id="35" name="Rounded Rectangle 34"/>
          <p:cNvSpPr/>
          <p:nvPr/>
        </p:nvSpPr>
        <p:spPr>
          <a:xfrm>
            <a:off x="512064" y="4910328"/>
            <a:ext cx="5422392" cy="832104"/>
          </a:xfrm>
          <a:prstGeom prst="roundRect">
            <a:avLst/>
          </a:prstGeom>
          <a:solidFill>
            <a:srgbClr val="E8F1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04088" y="5093208"/>
            <a:ext cx="1965960" cy="219456"/>
          </a:xfrm>
          <a:prstGeom prst="rect">
            <a:avLst/>
          </a:prstGeom>
          <a:noFill/>
        </p:spPr>
        <p:txBody>
          <a:bodyPr wrap="square" lIns="18288" tIns="18288" rIns="18288" bIns="18288" anchor="ctr">
            <a:spAutoFit/>
          </a:bodyPr>
          <a:lstStyle/>
          <a:p>
            <a:pPr>
              <a:spcBef>
                <a:spcPts val="0"/>
              </a:spcBef>
              <a:spcAft>
                <a:spcPts val="0"/>
              </a:spcAft>
            </a:pPr>
            <a:r>
              <a:rPr sz="1150" b="1">
                <a:solidFill>
                  <a:srgbClr val="1569C7"/>
                </a:solidFill>
                <a:latin typeface="Aptos"/>
              </a:rPr>
              <a:t>FINANCIAL REPORTING</a:t>
            </a:r>
          </a:p>
        </p:txBody>
      </p:sp>
      <p:sp>
        <p:nvSpPr>
          <p:cNvPr id="37" name="TextBox 36"/>
          <p:cNvSpPr txBox="1"/>
          <p:nvPr/>
        </p:nvSpPr>
        <p:spPr>
          <a:xfrm>
            <a:off x="2651760" y="5084064"/>
            <a:ext cx="3072384" cy="438912"/>
          </a:xfrm>
          <a:prstGeom prst="rect">
            <a:avLst/>
          </a:prstGeom>
          <a:noFill/>
        </p:spPr>
        <p:txBody>
          <a:bodyPr wrap="square" lIns="18288" tIns="18288" rIns="18288" bIns="18288" anchor="ctr">
            <a:spAutoFit/>
          </a:bodyPr>
          <a:lstStyle/>
          <a:p>
            <a:pPr>
              <a:spcBef>
                <a:spcPts val="0"/>
              </a:spcBef>
              <a:spcAft>
                <a:spcPts val="0"/>
              </a:spcAft>
            </a:pPr>
            <a:r>
              <a:rPr sz="1340" b="0">
                <a:solidFill>
                  <a:srgbClr val="13283F"/>
                </a:solidFill>
                <a:latin typeface="Aptos"/>
              </a:rPr>
              <a:t>Reconcile and show latest completed source period.</a:t>
            </a:r>
          </a:p>
        </p:txBody>
      </p:sp>
      <p:sp>
        <p:nvSpPr>
          <p:cNvPr id="38" name="Rounded Rectangle 37"/>
          <p:cNvSpPr/>
          <p:nvPr/>
        </p:nvSpPr>
        <p:spPr>
          <a:xfrm>
            <a:off x="6108192" y="4910328"/>
            <a:ext cx="5559552" cy="832104"/>
          </a:xfrm>
          <a:prstGeom prst="roundRect">
            <a:avLst/>
          </a:prstGeom>
          <a:solidFill>
            <a:srgbClr val="FEF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09360" y="5093208"/>
            <a:ext cx="1947672" cy="219456"/>
          </a:xfrm>
          <a:prstGeom prst="rect">
            <a:avLst/>
          </a:prstGeom>
          <a:noFill/>
        </p:spPr>
        <p:txBody>
          <a:bodyPr wrap="square" lIns="18288" tIns="18288" rIns="18288" bIns="18288" anchor="ctr">
            <a:spAutoFit/>
          </a:bodyPr>
          <a:lstStyle/>
          <a:p>
            <a:pPr>
              <a:spcBef>
                <a:spcPts val="0"/>
              </a:spcBef>
              <a:spcAft>
                <a:spcPts val="0"/>
              </a:spcAft>
            </a:pPr>
            <a:r>
              <a:rPr sz="1150" b="1">
                <a:solidFill>
                  <a:srgbClr val="B56812"/>
                </a:solidFill>
                <a:latin typeface="Aptos"/>
              </a:rPr>
              <a:t>OPERATIONAL ALERTS</a:t>
            </a:r>
          </a:p>
        </p:txBody>
      </p:sp>
      <p:sp>
        <p:nvSpPr>
          <p:cNvPr id="40" name="TextBox 39"/>
          <p:cNvSpPr txBox="1"/>
          <p:nvPr/>
        </p:nvSpPr>
        <p:spPr>
          <a:xfrm>
            <a:off x="8284464" y="5074920"/>
            <a:ext cx="3163824" cy="448056"/>
          </a:xfrm>
          <a:prstGeom prst="rect">
            <a:avLst/>
          </a:prstGeom>
          <a:noFill/>
        </p:spPr>
        <p:txBody>
          <a:bodyPr wrap="square" lIns="18288" tIns="18288" rIns="18288" bIns="18288" anchor="ctr">
            <a:spAutoFit/>
          </a:bodyPr>
          <a:lstStyle/>
          <a:p>
            <a:pPr>
              <a:spcBef>
                <a:spcPts val="0"/>
              </a:spcBef>
              <a:spcAft>
                <a:spcPts val="0"/>
              </a:spcAft>
            </a:pPr>
            <a:r>
              <a:rPr sz="1320" b="0">
                <a:solidFill>
                  <a:srgbClr val="13283F"/>
                </a:solidFill>
                <a:latin typeface="Aptos"/>
              </a:rPr>
              <a:t>Alert only when the source meets freshness limits.</a:t>
            </a:r>
          </a:p>
        </p:txBody>
      </p:sp>
      <p:sp>
        <p:nvSpPr>
          <p:cNvPr id="41" name="TextBox 40"/>
          <p:cNvSpPr txBox="1"/>
          <p:nvPr/>
        </p:nvSpPr>
        <p:spPr>
          <a:xfrm>
            <a:off x="685800" y="5989320"/>
            <a:ext cx="10698480" cy="329184"/>
          </a:xfrm>
          <a:prstGeom prst="rect">
            <a:avLst/>
          </a:prstGeom>
          <a:noFill/>
        </p:spPr>
        <p:txBody>
          <a:bodyPr wrap="square" lIns="18288" tIns="18288" rIns="18288" bIns="18288" anchor="ctr">
            <a:spAutoFit/>
          </a:bodyPr>
          <a:lstStyle/>
          <a:p>
            <a:pPr>
              <a:spcBef>
                <a:spcPts val="0"/>
              </a:spcBef>
              <a:spcAft>
                <a:spcPts val="0"/>
              </a:spcAft>
            </a:pPr>
            <a:r>
              <a:rPr sz="1320" b="1">
                <a:solidFill>
                  <a:srgbClr val="007E78"/>
                </a:solidFill>
                <a:latin typeface="Aptos"/>
              </a:rPr>
              <a:t>NEHA’S RULE  Recheck tenant access • if stale, show warning / suppress risky alert • log cost and outcome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84632" y="228600"/>
            <a:ext cx="10058400" cy="274320"/>
          </a:xfrm>
          <a:prstGeom prst="rect">
            <a:avLst/>
          </a:prstGeom>
          <a:noFill/>
        </p:spPr>
        <p:txBody>
          <a:bodyPr wrap="square" lIns="18288" tIns="18288" rIns="18288" bIns="18288" anchor="ctr">
            <a:spAutoFit/>
          </a:bodyPr>
          <a:lstStyle/>
          <a:p>
            <a:pPr>
              <a:spcBef>
                <a:spcPts val="0"/>
              </a:spcBef>
              <a:spcAft>
                <a:spcPts val="0"/>
              </a:spcAft>
            </a:pPr>
            <a:r>
              <a:rPr sz="1120" b="1">
                <a:solidFill>
                  <a:srgbClr val="007E78"/>
                </a:solidFill>
                <a:latin typeface="Aptos"/>
              </a:rPr>
              <a:t>NEHA · AI GOVERNANCE</a:t>
            </a:r>
          </a:p>
        </p:txBody>
      </p:sp>
      <p:sp>
        <p:nvSpPr>
          <p:cNvPr id="5" name="TextBox 4"/>
          <p:cNvSpPr txBox="1"/>
          <p:nvPr/>
        </p:nvSpPr>
        <p:spPr>
          <a:xfrm>
            <a:off x="484632" y="667512"/>
            <a:ext cx="11155680" cy="502920"/>
          </a:xfrm>
          <a:prstGeom prst="rect">
            <a:avLst/>
          </a:prstGeom>
          <a:noFill/>
        </p:spPr>
        <p:txBody>
          <a:bodyPr wrap="square" lIns="18288" tIns="18288" rIns="18288" bIns="18288" anchor="ctr">
            <a:spAutoFit/>
          </a:bodyPr>
          <a:lstStyle/>
          <a:p>
            <a:pPr>
              <a:spcBef>
                <a:spcPts val="0"/>
              </a:spcBef>
              <a:spcAft>
                <a:spcPts val="0"/>
              </a:spcAft>
            </a:pPr>
            <a:r>
              <a:rPr sz="2800" b="1">
                <a:solidFill>
                  <a:srgbClr val="13283F"/>
                </a:solidFill>
                <a:latin typeface="Aptos"/>
              </a:rPr>
              <a:t>Neha decides what AI can run, share and cost</a:t>
            </a:r>
          </a:p>
        </p:txBody>
      </p:sp>
      <p:sp>
        <p:nvSpPr>
          <p:cNvPr id="6" name="TextBox 5"/>
          <p:cNvSpPr txBox="1"/>
          <p:nvPr/>
        </p:nvSpPr>
        <p:spPr>
          <a:xfrm>
            <a:off x="493776" y="1252728"/>
            <a:ext cx="11064240" cy="429768"/>
          </a:xfrm>
          <a:prstGeom prst="rect">
            <a:avLst/>
          </a:prstGeom>
          <a:noFill/>
        </p:spPr>
        <p:txBody>
          <a:bodyPr wrap="square" lIns="18288" tIns="18288" rIns="18288" bIns="18288" anchor="ctr">
            <a:spAutoFit/>
          </a:bodyPr>
          <a:lstStyle/>
          <a:p>
            <a:pPr>
              <a:spcBef>
                <a:spcPts val="0"/>
              </a:spcBef>
              <a:spcAft>
                <a:spcPts val="0"/>
              </a:spcAft>
            </a:pPr>
            <a:r>
              <a:rPr sz="1570" b="0">
                <a:solidFill>
                  <a:srgbClr val="63788C"/>
                </a:solidFill>
                <a:latin typeface="Aptos"/>
              </a:rPr>
              <a:t>Governance builds the confidence Meera needs before adopting AI at enterprise scale.</a:t>
            </a:r>
          </a:p>
        </p:txBody>
      </p:sp>
      <p:sp>
        <p:nvSpPr>
          <p:cNvPr id="7" name="TextBox 6"/>
          <p:cNvSpPr txBox="1"/>
          <p:nvPr/>
        </p:nvSpPr>
        <p:spPr>
          <a:xfrm>
            <a:off x="11274552" y="6437376"/>
            <a:ext cx="438912" cy="219456"/>
          </a:xfrm>
          <a:prstGeom prst="rect">
            <a:avLst/>
          </a:prstGeom>
          <a:noFill/>
        </p:spPr>
        <p:txBody>
          <a:bodyPr wrap="square" lIns="18288" tIns="18288" rIns="18288" bIns="18288" anchor="ctr">
            <a:spAutoFit/>
          </a:bodyPr>
          <a:lstStyle/>
          <a:p>
            <a:pPr algn="r">
              <a:spcBef>
                <a:spcPts val="0"/>
              </a:spcBef>
              <a:spcAft>
                <a:spcPts val="0"/>
              </a:spcAft>
            </a:pPr>
            <a:r>
              <a:rPr sz="1050" b="1">
                <a:solidFill>
                  <a:srgbClr val="63788C"/>
                </a:solidFill>
                <a:latin typeface="Aptos"/>
              </a:rPr>
              <a:t>08</a:t>
            </a:r>
          </a:p>
        </p:txBody>
      </p:sp>
      <p:sp>
        <p:nvSpPr>
          <p:cNvPr id="8" name="Rounded Rectangle 7"/>
          <p:cNvSpPr/>
          <p:nvPr/>
        </p:nvSpPr>
        <p:spPr>
          <a:xfrm>
            <a:off x="502920" y="1911095"/>
            <a:ext cx="3657600" cy="1554480"/>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2112264"/>
            <a:ext cx="384048" cy="301752"/>
          </a:xfrm>
          <a:prstGeom prst="rect">
            <a:avLst/>
          </a:prstGeom>
          <a:noFill/>
        </p:spPr>
        <p:txBody>
          <a:bodyPr wrap="square" lIns="18288" tIns="18288" rIns="18288" bIns="18288" anchor="ctr">
            <a:spAutoFit/>
          </a:bodyPr>
          <a:lstStyle/>
          <a:p>
            <a:pPr>
              <a:spcBef>
                <a:spcPts val="0"/>
              </a:spcBef>
              <a:spcAft>
                <a:spcPts val="0"/>
              </a:spcAft>
            </a:pPr>
            <a:r>
              <a:rPr sz="1700" b="1">
                <a:solidFill>
                  <a:srgbClr val="007E78"/>
                </a:solidFill>
                <a:latin typeface="Aptos"/>
              </a:rPr>
              <a:t>01</a:t>
            </a:r>
          </a:p>
        </p:txBody>
      </p:sp>
      <p:sp>
        <p:nvSpPr>
          <p:cNvPr id="10" name="TextBox 9"/>
          <p:cNvSpPr txBox="1"/>
          <p:nvPr/>
        </p:nvSpPr>
        <p:spPr>
          <a:xfrm>
            <a:off x="1143000" y="2121408"/>
            <a:ext cx="2788920" cy="292608"/>
          </a:xfrm>
          <a:prstGeom prst="rect">
            <a:avLst/>
          </a:prstGeom>
          <a:noFill/>
        </p:spPr>
        <p:txBody>
          <a:bodyPr wrap="square" lIns="18288" tIns="18288" rIns="18288" bIns="18288" anchor="ctr">
            <a:spAutoFit/>
          </a:bodyPr>
          <a:lstStyle/>
          <a:p>
            <a:pPr>
              <a:spcBef>
                <a:spcPts val="0"/>
              </a:spcBef>
              <a:spcAft>
                <a:spcPts val="0"/>
              </a:spcAft>
            </a:pPr>
            <a:r>
              <a:rPr sz="1560" b="1">
                <a:solidFill>
                  <a:srgbClr val="13283F"/>
                </a:solidFill>
                <a:latin typeface="Aptos"/>
              </a:rPr>
              <a:t>IDENTITY &amp; SCOPE</a:t>
            </a:r>
          </a:p>
        </p:txBody>
      </p:sp>
      <p:sp>
        <p:nvSpPr>
          <p:cNvPr id="11" name="TextBox 10"/>
          <p:cNvSpPr txBox="1"/>
          <p:nvPr/>
        </p:nvSpPr>
        <p:spPr>
          <a:xfrm>
            <a:off x="1143000" y="2578608"/>
            <a:ext cx="2770632" cy="548640"/>
          </a:xfrm>
          <a:prstGeom prst="rect">
            <a:avLst/>
          </a:prstGeom>
          <a:noFill/>
        </p:spPr>
        <p:txBody>
          <a:bodyPr wrap="square" lIns="18288" tIns="18288" rIns="18288" bIns="18288" anchor="ctr">
            <a:spAutoFit/>
          </a:bodyPr>
          <a:lstStyle/>
          <a:p>
            <a:pPr>
              <a:spcBef>
                <a:spcPts val="0"/>
              </a:spcBef>
              <a:spcAft>
                <a:spcPts val="0"/>
              </a:spcAft>
            </a:pPr>
            <a:r>
              <a:rPr sz="1390" b="0">
                <a:solidFill>
                  <a:srgbClr val="172B45"/>
                </a:solidFill>
                <a:latin typeface="Aptos"/>
              </a:rPr>
              <a:t>Each run checks tenant, role and center access.</a:t>
            </a:r>
          </a:p>
        </p:txBody>
      </p:sp>
      <p:sp>
        <p:nvSpPr>
          <p:cNvPr id="12" name="Rounded Rectangle 11"/>
          <p:cNvSpPr/>
          <p:nvPr/>
        </p:nvSpPr>
        <p:spPr>
          <a:xfrm>
            <a:off x="4379976" y="1911095"/>
            <a:ext cx="3657600" cy="1554480"/>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35424" y="2112264"/>
            <a:ext cx="384048" cy="301752"/>
          </a:xfrm>
          <a:prstGeom prst="rect">
            <a:avLst/>
          </a:prstGeom>
          <a:noFill/>
        </p:spPr>
        <p:txBody>
          <a:bodyPr wrap="square" lIns="18288" tIns="18288" rIns="18288" bIns="18288" anchor="ctr">
            <a:spAutoFit/>
          </a:bodyPr>
          <a:lstStyle/>
          <a:p>
            <a:pPr>
              <a:spcBef>
                <a:spcPts val="0"/>
              </a:spcBef>
              <a:spcAft>
                <a:spcPts val="0"/>
              </a:spcAft>
            </a:pPr>
            <a:r>
              <a:rPr sz="1700" b="1">
                <a:solidFill>
                  <a:srgbClr val="1569C7"/>
                </a:solidFill>
                <a:latin typeface="Aptos"/>
              </a:rPr>
              <a:t>02</a:t>
            </a:r>
          </a:p>
        </p:txBody>
      </p:sp>
      <p:sp>
        <p:nvSpPr>
          <p:cNvPr id="14" name="TextBox 13"/>
          <p:cNvSpPr txBox="1"/>
          <p:nvPr/>
        </p:nvSpPr>
        <p:spPr>
          <a:xfrm>
            <a:off x="5020056" y="2121408"/>
            <a:ext cx="2788920" cy="292608"/>
          </a:xfrm>
          <a:prstGeom prst="rect">
            <a:avLst/>
          </a:prstGeom>
          <a:noFill/>
        </p:spPr>
        <p:txBody>
          <a:bodyPr wrap="square" lIns="18288" tIns="18288" rIns="18288" bIns="18288" anchor="ctr">
            <a:spAutoFit/>
          </a:bodyPr>
          <a:lstStyle/>
          <a:p>
            <a:pPr>
              <a:spcBef>
                <a:spcPts val="0"/>
              </a:spcBef>
              <a:spcAft>
                <a:spcPts val="0"/>
              </a:spcAft>
            </a:pPr>
            <a:r>
              <a:rPr sz="1560" b="1">
                <a:solidFill>
                  <a:srgbClr val="13283F"/>
                </a:solidFill>
                <a:latin typeface="Aptos"/>
              </a:rPr>
              <a:t>TRACEABLE ANSWER</a:t>
            </a:r>
          </a:p>
        </p:txBody>
      </p:sp>
      <p:sp>
        <p:nvSpPr>
          <p:cNvPr id="15" name="TextBox 14"/>
          <p:cNvSpPr txBox="1"/>
          <p:nvPr/>
        </p:nvSpPr>
        <p:spPr>
          <a:xfrm>
            <a:off x="5020056" y="2578608"/>
            <a:ext cx="2770632" cy="548640"/>
          </a:xfrm>
          <a:prstGeom prst="rect">
            <a:avLst/>
          </a:prstGeom>
          <a:noFill/>
        </p:spPr>
        <p:txBody>
          <a:bodyPr wrap="square" lIns="18288" tIns="18288" rIns="18288" bIns="18288" anchor="ctr">
            <a:spAutoFit/>
          </a:bodyPr>
          <a:lstStyle/>
          <a:p>
            <a:pPr>
              <a:spcBef>
                <a:spcPts val="0"/>
              </a:spcBef>
              <a:spcAft>
                <a:spcPts val="0"/>
              </a:spcAft>
            </a:pPr>
            <a:r>
              <a:rPr sz="1390" b="0">
                <a:solidFill>
                  <a:srgbClr val="172B45"/>
                </a:solidFill>
                <a:latin typeface="Aptos"/>
              </a:rPr>
              <a:t>Capture sources, KPI version and analysis time.</a:t>
            </a:r>
          </a:p>
        </p:txBody>
      </p:sp>
      <p:sp>
        <p:nvSpPr>
          <p:cNvPr id="16" name="Rounded Rectangle 15"/>
          <p:cNvSpPr/>
          <p:nvPr/>
        </p:nvSpPr>
        <p:spPr>
          <a:xfrm>
            <a:off x="8257032" y="1911095"/>
            <a:ext cx="3657600" cy="1554480"/>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2112264"/>
            <a:ext cx="384048" cy="301752"/>
          </a:xfrm>
          <a:prstGeom prst="rect">
            <a:avLst/>
          </a:prstGeom>
          <a:noFill/>
        </p:spPr>
        <p:txBody>
          <a:bodyPr wrap="square" lIns="18288" tIns="18288" rIns="18288" bIns="18288" anchor="ctr">
            <a:spAutoFit/>
          </a:bodyPr>
          <a:lstStyle/>
          <a:p>
            <a:pPr>
              <a:spcBef>
                <a:spcPts val="0"/>
              </a:spcBef>
              <a:spcAft>
                <a:spcPts val="0"/>
              </a:spcAft>
            </a:pPr>
            <a:r>
              <a:rPr sz="1700" b="1">
                <a:solidFill>
                  <a:srgbClr val="187D54"/>
                </a:solidFill>
                <a:latin typeface="Aptos"/>
              </a:rPr>
              <a:t>03</a:t>
            </a:r>
          </a:p>
        </p:txBody>
      </p:sp>
      <p:sp>
        <p:nvSpPr>
          <p:cNvPr id="18" name="TextBox 17"/>
          <p:cNvSpPr txBox="1"/>
          <p:nvPr/>
        </p:nvSpPr>
        <p:spPr>
          <a:xfrm>
            <a:off x="8897112" y="2121408"/>
            <a:ext cx="2788920" cy="292608"/>
          </a:xfrm>
          <a:prstGeom prst="rect">
            <a:avLst/>
          </a:prstGeom>
          <a:noFill/>
        </p:spPr>
        <p:txBody>
          <a:bodyPr wrap="square" lIns="18288" tIns="18288" rIns="18288" bIns="18288" anchor="ctr">
            <a:spAutoFit/>
          </a:bodyPr>
          <a:lstStyle/>
          <a:p>
            <a:pPr>
              <a:spcBef>
                <a:spcPts val="0"/>
              </a:spcBef>
              <a:spcAft>
                <a:spcPts val="0"/>
              </a:spcAft>
            </a:pPr>
            <a:r>
              <a:rPr sz="1560" b="1">
                <a:solidFill>
                  <a:srgbClr val="13283F"/>
                </a:solidFill>
                <a:latin typeface="Aptos"/>
              </a:rPr>
              <a:t>SAFE SHARING</a:t>
            </a:r>
          </a:p>
        </p:txBody>
      </p:sp>
      <p:sp>
        <p:nvSpPr>
          <p:cNvPr id="19" name="TextBox 18"/>
          <p:cNvSpPr txBox="1"/>
          <p:nvPr/>
        </p:nvSpPr>
        <p:spPr>
          <a:xfrm>
            <a:off x="8897112" y="2578608"/>
            <a:ext cx="2770632" cy="548640"/>
          </a:xfrm>
          <a:prstGeom prst="rect">
            <a:avLst/>
          </a:prstGeom>
          <a:noFill/>
        </p:spPr>
        <p:txBody>
          <a:bodyPr wrap="square" lIns="18288" tIns="18288" rIns="18288" bIns="18288" anchor="ctr">
            <a:spAutoFit/>
          </a:bodyPr>
          <a:lstStyle/>
          <a:p>
            <a:pPr>
              <a:spcBef>
                <a:spcPts val="0"/>
              </a:spcBef>
              <a:spcAft>
                <a:spcPts val="0"/>
              </a:spcAft>
            </a:pPr>
            <a:r>
              <a:rPr sz="1390" b="0">
                <a:solidFill>
                  <a:srgbClr val="172B45"/>
                </a:solidFill>
                <a:latin typeface="Aptos"/>
              </a:rPr>
              <a:t>Approved recipients; secure links and expiry.</a:t>
            </a:r>
          </a:p>
        </p:txBody>
      </p:sp>
      <p:sp>
        <p:nvSpPr>
          <p:cNvPr id="20" name="Rounded Rectangle 19"/>
          <p:cNvSpPr/>
          <p:nvPr/>
        </p:nvSpPr>
        <p:spPr>
          <a:xfrm>
            <a:off x="502920" y="3694176"/>
            <a:ext cx="3657600" cy="1554480"/>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3895344"/>
            <a:ext cx="384048" cy="301752"/>
          </a:xfrm>
          <a:prstGeom prst="rect">
            <a:avLst/>
          </a:prstGeom>
          <a:noFill/>
        </p:spPr>
        <p:txBody>
          <a:bodyPr wrap="square" lIns="18288" tIns="18288" rIns="18288" bIns="18288" anchor="ctr">
            <a:spAutoFit/>
          </a:bodyPr>
          <a:lstStyle/>
          <a:p>
            <a:pPr>
              <a:spcBef>
                <a:spcPts val="0"/>
              </a:spcBef>
              <a:spcAft>
                <a:spcPts val="0"/>
              </a:spcAft>
            </a:pPr>
            <a:r>
              <a:rPr sz="1700" b="1">
                <a:solidFill>
                  <a:srgbClr val="B56812"/>
                </a:solidFill>
                <a:latin typeface="Aptos"/>
              </a:rPr>
              <a:t>04</a:t>
            </a:r>
          </a:p>
        </p:txBody>
      </p:sp>
      <p:sp>
        <p:nvSpPr>
          <p:cNvPr id="22" name="TextBox 21"/>
          <p:cNvSpPr txBox="1"/>
          <p:nvPr/>
        </p:nvSpPr>
        <p:spPr>
          <a:xfrm>
            <a:off x="1143000" y="3904488"/>
            <a:ext cx="2788920" cy="292608"/>
          </a:xfrm>
          <a:prstGeom prst="rect">
            <a:avLst/>
          </a:prstGeom>
          <a:noFill/>
        </p:spPr>
        <p:txBody>
          <a:bodyPr wrap="square" lIns="18288" tIns="18288" rIns="18288" bIns="18288" anchor="ctr">
            <a:spAutoFit/>
          </a:bodyPr>
          <a:lstStyle/>
          <a:p>
            <a:pPr>
              <a:spcBef>
                <a:spcPts val="0"/>
              </a:spcBef>
              <a:spcAft>
                <a:spcPts val="0"/>
              </a:spcAft>
            </a:pPr>
            <a:r>
              <a:rPr sz="1560" b="1">
                <a:solidFill>
                  <a:srgbClr val="13283F"/>
                </a:solidFill>
                <a:latin typeface="Aptos"/>
              </a:rPr>
              <a:t>USAGE BUDGETS</a:t>
            </a:r>
          </a:p>
        </p:txBody>
      </p:sp>
      <p:sp>
        <p:nvSpPr>
          <p:cNvPr id="23" name="TextBox 22"/>
          <p:cNvSpPr txBox="1"/>
          <p:nvPr/>
        </p:nvSpPr>
        <p:spPr>
          <a:xfrm>
            <a:off x="1143000" y="4361688"/>
            <a:ext cx="2770632" cy="548640"/>
          </a:xfrm>
          <a:prstGeom prst="rect">
            <a:avLst/>
          </a:prstGeom>
          <a:noFill/>
        </p:spPr>
        <p:txBody>
          <a:bodyPr wrap="square" lIns="18288" tIns="18288" rIns="18288" bIns="18288" anchor="ctr">
            <a:spAutoFit/>
          </a:bodyPr>
          <a:lstStyle/>
          <a:p>
            <a:pPr>
              <a:spcBef>
                <a:spcPts val="0"/>
              </a:spcBef>
              <a:spcAft>
                <a:spcPts val="0"/>
              </a:spcAft>
            </a:pPr>
            <a:r>
              <a:rPr sz="1390" b="0">
                <a:solidFill>
                  <a:srgbClr val="172B45"/>
                </a:solidFill>
                <a:latin typeface="Aptos"/>
              </a:rPr>
              <a:t>Limit heavy runs, concurrency and tenant spend.</a:t>
            </a:r>
          </a:p>
        </p:txBody>
      </p:sp>
      <p:sp>
        <p:nvSpPr>
          <p:cNvPr id="24" name="Rounded Rectangle 23"/>
          <p:cNvSpPr/>
          <p:nvPr/>
        </p:nvSpPr>
        <p:spPr>
          <a:xfrm>
            <a:off x="4379976" y="3694176"/>
            <a:ext cx="3657600" cy="1554480"/>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35424" y="3895344"/>
            <a:ext cx="384048" cy="301752"/>
          </a:xfrm>
          <a:prstGeom prst="rect">
            <a:avLst/>
          </a:prstGeom>
          <a:noFill/>
        </p:spPr>
        <p:txBody>
          <a:bodyPr wrap="square" lIns="18288" tIns="18288" rIns="18288" bIns="18288" anchor="ctr">
            <a:spAutoFit/>
          </a:bodyPr>
          <a:lstStyle/>
          <a:p>
            <a:pPr>
              <a:spcBef>
                <a:spcPts val="0"/>
              </a:spcBef>
              <a:spcAft>
                <a:spcPts val="0"/>
              </a:spcAft>
            </a:pPr>
            <a:r>
              <a:rPr sz="1700" b="1">
                <a:solidFill>
                  <a:srgbClr val="A63C40"/>
                </a:solidFill>
                <a:latin typeface="Aptos"/>
              </a:rPr>
              <a:t>05</a:t>
            </a:r>
          </a:p>
        </p:txBody>
      </p:sp>
      <p:sp>
        <p:nvSpPr>
          <p:cNvPr id="26" name="TextBox 25"/>
          <p:cNvSpPr txBox="1"/>
          <p:nvPr/>
        </p:nvSpPr>
        <p:spPr>
          <a:xfrm>
            <a:off x="5020056" y="3904488"/>
            <a:ext cx="2788920" cy="292608"/>
          </a:xfrm>
          <a:prstGeom prst="rect">
            <a:avLst/>
          </a:prstGeom>
          <a:noFill/>
        </p:spPr>
        <p:txBody>
          <a:bodyPr wrap="square" lIns="18288" tIns="18288" rIns="18288" bIns="18288" anchor="ctr">
            <a:spAutoFit/>
          </a:bodyPr>
          <a:lstStyle/>
          <a:p>
            <a:pPr>
              <a:spcBef>
                <a:spcPts val="0"/>
              </a:spcBef>
              <a:spcAft>
                <a:spcPts val="0"/>
              </a:spcAft>
            </a:pPr>
            <a:r>
              <a:rPr sz="1560" b="1">
                <a:solidFill>
                  <a:srgbClr val="13283F"/>
                </a:solidFill>
                <a:latin typeface="Aptos"/>
              </a:rPr>
              <a:t>QUALITY MONITORING</a:t>
            </a:r>
          </a:p>
        </p:txBody>
      </p:sp>
      <p:sp>
        <p:nvSpPr>
          <p:cNvPr id="27" name="TextBox 26"/>
          <p:cNvSpPr txBox="1"/>
          <p:nvPr/>
        </p:nvSpPr>
        <p:spPr>
          <a:xfrm>
            <a:off x="5020056" y="4361688"/>
            <a:ext cx="2770632" cy="548640"/>
          </a:xfrm>
          <a:prstGeom prst="rect">
            <a:avLst/>
          </a:prstGeom>
          <a:noFill/>
        </p:spPr>
        <p:txBody>
          <a:bodyPr wrap="square" lIns="18288" tIns="18288" rIns="18288" bIns="18288" anchor="ctr">
            <a:spAutoFit/>
          </a:bodyPr>
          <a:lstStyle/>
          <a:p>
            <a:pPr>
              <a:spcBef>
                <a:spcPts val="0"/>
              </a:spcBef>
              <a:spcAft>
                <a:spcPts val="0"/>
              </a:spcAft>
            </a:pPr>
            <a:r>
              <a:rPr sz="1390" b="0">
                <a:solidFill>
                  <a:srgbClr val="172B45"/>
                </a:solidFill>
                <a:latin typeface="Aptos"/>
              </a:rPr>
              <a:t>Flag stale data, failed jobs and noisy alerts.</a:t>
            </a:r>
          </a:p>
        </p:txBody>
      </p:sp>
      <p:sp>
        <p:nvSpPr>
          <p:cNvPr id="28" name="Rounded Rectangle 27"/>
          <p:cNvSpPr/>
          <p:nvPr/>
        </p:nvSpPr>
        <p:spPr>
          <a:xfrm>
            <a:off x="8257032" y="3694176"/>
            <a:ext cx="3657600" cy="1554480"/>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12480" y="3895344"/>
            <a:ext cx="384048" cy="301752"/>
          </a:xfrm>
          <a:prstGeom prst="rect">
            <a:avLst/>
          </a:prstGeom>
          <a:noFill/>
        </p:spPr>
        <p:txBody>
          <a:bodyPr wrap="square" lIns="18288" tIns="18288" rIns="18288" bIns="18288" anchor="ctr">
            <a:spAutoFit/>
          </a:bodyPr>
          <a:lstStyle/>
          <a:p>
            <a:pPr>
              <a:spcBef>
                <a:spcPts val="0"/>
              </a:spcBef>
              <a:spcAft>
                <a:spcPts val="0"/>
              </a:spcAft>
            </a:pPr>
            <a:r>
              <a:rPr sz="1700" b="1">
                <a:solidFill>
                  <a:srgbClr val="63788C"/>
                </a:solidFill>
                <a:latin typeface="Aptos"/>
              </a:rPr>
              <a:t>06</a:t>
            </a:r>
          </a:p>
        </p:txBody>
      </p:sp>
      <p:sp>
        <p:nvSpPr>
          <p:cNvPr id="30" name="TextBox 29"/>
          <p:cNvSpPr txBox="1"/>
          <p:nvPr/>
        </p:nvSpPr>
        <p:spPr>
          <a:xfrm>
            <a:off x="8897112" y="3904488"/>
            <a:ext cx="2788920" cy="292608"/>
          </a:xfrm>
          <a:prstGeom prst="rect">
            <a:avLst/>
          </a:prstGeom>
          <a:noFill/>
        </p:spPr>
        <p:txBody>
          <a:bodyPr wrap="square" lIns="18288" tIns="18288" rIns="18288" bIns="18288" anchor="ctr">
            <a:spAutoFit/>
          </a:bodyPr>
          <a:lstStyle/>
          <a:p>
            <a:pPr>
              <a:spcBef>
                <a:spcPts val="0"/>
              </a:spcBef>
              <a:spcAft>
                <a:spcPts val="0"/>
              </a:spcAft>
            </a:pPr>
            <a:r>
              <a:rPr sz="1560" b="1">
                <a:solidFill>
                  <a:srgbClr val="13283F"/>
                </a:solidFill>
                <a:latin typeface="Aptos"/>
              </a:rPr>
              <a:t>PAUSE &amp; RECOVER</a:t>
            </a:r>
          </a:p>
        </p:txBody>
      </p:sp>
      <p:sp>
        <p:nvSpPr>
          <p:cNvPr id="31" name="TextBox 30"/>
          <p:cNvSpPr txBox="1"/>
          <p:nvPr/>
        </p:nvSpPr>
        <p:spPr>
          <a:xfrm>
            <a:off x="8897112" y="4361688"/>
            <a:ext cx="2770632" cy="548640"/>
          </a:xfrm>
          <a:prstGeom prst="rect">
            <a:avLst/>
          </a:prstGeom>
          <a:noFill/>
        </p:spPr>
        <p:txBody>
          <a:bodyPr wrap="square" lIns="18288" tIns="18288" rIns="18288" bIns="18288" anchor="ctr">
            <a:spAutoFit/>
          </a:bodyPr>
          <a:lstStyle/>
          <a:p>
            <a:pPr>
              <a:spcBef>
                <a:spcPts val="0"/>
              </a:spcBef>
              <a:spcAft>
                <a:spcPts val="0"/>
              </a:spcAft>
            </a:pPr>
            <a:r>
              <a:rPr sz="1390" b="0">
                <a:solidFill>
                  <a:srgbClr val="172B45"/>
                </a:solidFill>
                <a:latin typeface="Aptos"/>
              </a:rPr>
              <a:t>Stop schedules quickly; retry or rollback safely.</a:t>
            </a:r>
          </a:p>
        </p:txBody>
      </p:sp>
      <p:sp>
        <p:nvSpPr>
          <p:cNvPr id="32" name="Rounded Rectangle 31"/>
          <p:cNvSpPr/>
          <p:nvPr/>
        </p:nvSpPr>
        <p:spPr>
          <a:xfrm>
            <a:off x="502920" y="5650992"/>
            <a:ext cx="11109960" cy="466344"/>
          </a:xfrm>
          <a:prstGeom prst="roundRect">
            <a:avLst/>
          </a:prstGeom>
          <a:solidFill>
            <a:srgbClr val="DC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8368" y="5733288"/>
            <a:ext cx="10716768" cy="265176"/>
          </a:xfrm>
          <a:prstGeom prst="rect">
            <a:avLst/>
          </a:prstGeom>
          <a:noFill/>
        </p:spPr>
        <p:txBody>
          <a:bodyPr wrap="square" lIns="18288" tIns="18288" rIns="18288" bIns="18288" anchor="ctr">
            <a:spAutoFit/>
          </a:bodyPr>
          <a:lstStyle/>
          <a:p>
            <a:pPr>
              <a:spcBef>
                <a:spcPts val="0"/>
              </a:spcBef>
              <a:spcAft>
                <a:spcPts val="0"/>
              </a:spcAft>
            </a:pPr>
            <a:r>
              <a:rPr sz="1300" b="1">
                <a:solidFill>
                  <a:srgbClr val="007E78"/>
                </a:solidFill>
                <a:latin typeface="Aptos"/>
              </a:rPr>
              <a:t>AI CONTROL TOWER   Advisor • Retention • Dispute   |   Cost/run • failures • usage/tenant • policy alerts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84632" y="228600"/>
            <a:ext cx="10058400" cy="274320"/>
          </a:xfrm>
          <a:prstGeom prst="rect">
            <a:avLst/>
          </a:prstGeom>
          <a:noFill/>
        </p:spPr>
        <p:txBody>
          <a:bodyPr wrap="square" lIns="18288" tIns="18288" rIns="18288" bIns="18288" anchor="ctr">
            <a:spAutoFit/>
          </a:bodyPr>
          <a:lstStyle/>
          <a:p>
            <a:pPr>
              <a:spcBef>
                <a:spcPts val="0"/>
              </a:spcBef>
              <a:spcAft>
                <a:spcPts val="0"/>
              </a:spcAft>
            </a:pPr>
            <a:r>
              <a:rPr sz="1120" b="1">
                <a:solidFill>
                  <a:srgbClr val="007E78"/>
                </a:solidFill>
                <a:latin typeface="Aptos"/>
              </a:rPr>
              <a:t>MEERA · ARJUN · NEHA / ROADMAP</a:t>
            </a:r>
          </a:p>
        </p:txBody>
      </p:sp>
      <p:sp>
        <p:nvSpPr>
          <p:cNvPr id="5" name="TextBox 4"/>
          <p:cNvSpPr txBox="1"/>
          <p:nvPr/>
        </p:nvSpPr>
        <p:spPr>
          <a:xfrm>
            <a:off x="484632" y="667512"/>
            <a:ext cx="11155680" cy="502920"/>
          </a:xfrm>
          <a:prstGeom prst="rect">
            <a:avLst/>
          </a:prstGeom>
          <a:noFill/>
        </p:spPr>
        <p:txBody>
          <a:bodyPr wrap="square" lIns="18288" tIns="18288" rIns="18288" bIns="18288" anchor="ctr">
            <a:spAutoFit/>
          </a:bodyPr>
          <a:lstStyle/>
          <a:p>
            <a:pPr>
              <a:spcBef>
                <a:spcPts val="0"/>
              </a:spcBef>
              <a:spcAft>
                <a:spcPts val="0"/>
              </a:spcAft>
            </a:pPr>
            <a:r>
              <a:rPr sz="2800" b="1">
                <a:solidFill>
                  <a:srgbClr val="13283F"/>
                </a:solidFill>
                <a:latin typeface="Aptos"/>
              </a:rPr>
              <a:t>One useful MVP. Expansion only when outcomes are real.</a:t>
            </a:r>
          </a:p>
        </p:txBody>
      </p:sp>
      <p:sp>
        <p:nvSpPr>
          <p:cNvPr id="6" name="TextBox 5"/>
          <p:cNvSpPr txBox="1"/>
          <p:nvPr/>
        </p:nvSpPr>
        <p:spPr>
          <a:xfrm>
            <a:off x="493776" y="1252728"/>
            <a:ext cx="11064240" cy="429768"/>
          </a:xfrm>
          <a:prstGeom prst="rect">
            <a:avLst/>
          </a:prstGeom>
          <a:noFill/>
        </p:spPr>
        <p:txBody>
          <a:bodyPr wrap="square" lIns="18288" tIns="18288" rIns="18288" bIns="18288" anchor="ctr">
            <a:spAutoFit/>
          </a:bodyPr>
          <a:lstStyle/>
          <a:p>
            <a:pPr>
              <a:spcBef>
                <a:spcPts val="0"/>
              </a:spcBef>
              <a:spcAft>
                <a:spcPts val="0"/>
              </a:spcAft>
            </a:pPr>
            <a:r>
              <a:rPr sz="1570" b="0">
                <a:solidFill>
                  <a:srgbClr val="63788C"/>
                </a:solidFill>
                <a:latin typeface="Aptos"/>
              </a:rPr>
              <a:t>Turn industry pressures into repeatable decisions without rebuilding Zenoti’s existing AI products.</a:t>
            </a:r>
          </a:p>
        </p:txBody>
      </p:sp>
      <p:sp>
        <p:nvSpPr>
          <p:cNvPr id="7" name="TextBox 6"/>
          <p:cNvSpPr txBox="1"/>
          <p:nvPr/>
        </p:nvSpPr>
        <p:spPr>
          <a:xfrm>
            <a:off x="11274552" y="6437376"/>
            <a:ext cx="438912" cy="219456"/>
          </a:xfrm>
          <a:prstGeom prst="rect">
            <a:avLst/>
          </a:prstGeom>
          <a:noFill/>
        </p:spPr>
        <p:txBody>
          <a:bodyPr wrap="square" lIns="18288" tIns="18288" rIns="18288" bIns="18288" anchor="ctr">
            <a:spAutoFit/>
          </a:bodyPr>
          <a:lstStyle/>
          <a:p>
            <a:pPr algn="r">
              <a:spcBef>
                <a:spcPts val="0"/>
              </a:spcBef>
              <a:spcAft>
                <a:spcPts val="0"/>
              </a:spcAft>
            </a:pPr>
            <a:r>
              <a:rPr sz="1050" b="1">
                <a:solidFill>
                  <a:srgbClr val="63788C"/>
                </a:solidFill>
                <a:latin typeface="Aptos"/>
              </a:rPr>
              <a:t>09</a:t>
            </a:r>
          </a:p>
        </p:txBody>
      </p:sp>
      <p:sp>
        <p:nvSpPr>
          <p:cNvPr id="8" name="Rounded Rectangle 7"/>
          <p:cNvSpPr/>
          <p:nvPr/>
        </p:nvSpPr>
        <p:spPr>
          <a:xfrm>
            <a:off x="493776" y="1901952"/>
            <a:ext cx="2724912" cy="3410712"/>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93776" y="1901952"/>
            <a:ext cx="2724912" cy="50292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2020824"/>
            <a:ext cx="2322576" cy="256032"/>
          </a:xfrm>
          <a:prstGeom prst="rect">
            <a:avLst/>
          </a:prstGeom>
          <a:noFill/>
        </p:spPr>
        <p:txBody>
          <a:bodyPr wrap="square" lIns="18288" tIns="18288" rIns="18288" bIns="18288" anchor="ctr">
            <a:spAutoFit/>
          </a:bodyPr>
          <a:lstStyle/>
          <a:p>
            <a:pPr>
              <a:spcBef>
                <a:spcPts val="0"/>
              </a:spcBef>
              <a:spcAft>
                <a:spcPts val="0"/>
              </a:spcAft>
            </a:pPr>
            <a:r>
              <a:rPr sz="1670" b="1">
                <a:solidFill>
                  <a:srgbClr val="FFFFFF"/>
                </a:solidFill>
                <a:latin typeface="Aptos"/>
              </a:rPr>
              <a:t>Q1</a:t>
            </a:r>
          </a:p>
        </p:txBody>
      </p:sp>
      <p:sp>
        <p:nvSpPr>
          <p:cNvPr id="11" name="TextBox 10"/>
          <p:cNvSpPr txBox="1"/>
          <p:nvPr/>
        </p:nvSpPr>
        <p:spPr>
          <a:xfrm>
            <a:off x="676656" y="2697480"/>
            <a:ext cx="2322576" cy="649224"/>
          </a:xfrm>
          <a:prstGeom prst="rect">
            <a:avLst/>
          </a:prstGeom>
          <a:noFill/>
        </p:spPr>
        <p:txBody>
          <a:bodyPr wrap="square" lIns="18288" tIns="18288" rIns="18288" bIns="18288" anchor="ctr">
            <a:spAutoFit/>
          </a:bodyPr>
          <a:lstStyle/>
          <a:p>
            <a:pPr>
              <a:spcBef>
                <a:spcPts val="0"/>
              </a:spcBef>
              <a:spcAft>
                <a:spcPts val="0"/>
              </a:spcAft>
            </a:pPr>
            <a:r>
              <a:rPr sz="1810" b="1">
                <a:solidFill>
                  <a:srgbClr val="13283F"/>
                </a:solidFill>
                <a:latin typeface="Aptos"/>
              </a:rPr>
              <a:t>Prove the problem</a:t>
            </a:r>
          </a:p>
        </p:txBody>
      </p:sp>
      <p:sp>
        <p:nvSpPr>
          <p:cNvPr id="12" name="TextBox 11"/>
          <p:cNvSpPr txBox="1"/>
          <p:nvPr/>
        </p:nvSpPr>
        <p:spPr>
          <a:xfrm>
            <a:off x="667512" y="3557016"/>
            <a:ext cx="2295144" cy="914400"/>
          </a:xfrm>
          <a:prstGeom prst="rect">
            <a:avLst/>
          </a:prstGeom>
          <a:noFill/>
        </p:spPr>
        <p:txBody>
          <a:bodyPr wrap="square" lIns="18288" tIns="18288" rIns="18288" bIns="18288" anchor="ctr">
            <a:spAutoFit/>
          </a:bodyPr>
          <a:lstStyle/>
          <a:p>
            <a:pPr>
              <a:spcBef>
                <a:spcPts val="0"/>
              </a:spcBef>
              <a:spcAft>
                <a:spcPts val="0"/>
              </a:spcAft>
            </a:pPr>
            <a:r>
              <a:rPr sz="1400" b="0">
                <a:solidFill>
                  <a:srgbClr val="172B45"/>
                </a:solidFill>
                <a:latin typeface="Aptos"/>
              </a:rPr>
              <a:t>Co-design with regional managers; certify visit, margin and staffing KPIs.</a:t>
            </a:r>
          </a:p>
        </p:txBody>
      </p:sp>
      <p:sp>
        <p:nvSpPr>
          <p:cNvPr id="13" name="TextBox 12"/>
          <p:cNvSpPr txBox="1"/>
          <p:nvPr/>
        </p:nvSpPr>
        <p:spPr>
          <a:xfrm>
            <a:off x="667512" y="4709160"/>
            <a:ext cx="2304288" cy="356616"/>
          </a:xfrm>
          <a:prstGeom prst="rect">
            <a:avLst/>
          </a:prstGeom>
          <a:noFill/>
        </p:spPr>
        <p:txBody>
          <a:bodyPr wrap="square" lIns="18288" tIns="18288" rIns="18288" bIns="18288" anchor="ctr">
            <a:spAutoFit/>
          </a:bodyPr>
          <a:lstStyle/>
          <a:p>
            <a:pPr>
              <a:spcBef>
                <a:spcPts val="0"/>
              </a:spcBef>
              <a:spcAft>
                <a:spcPts val="0"/>
              </a:spcAft>
            </a:pPr>
            <a:r>
              <a:rPr sz="1120" b="1">
                <a:solidFill>
                  <a:srgbClr val="007E78"/>
                </a:solidFill>
                <a:latin typeface="Aptos"/>
              </a:rPr>
              <a:t>Gate: trusted definitions + repeat need</a:t>
            </a:r>
          </a:p>
        </p:txBody>
      </p:sp>
      <p:sp>
        <p:nvSpPr>
          <p:cNvPr id="14" name="Rounded Rectangle 13"/>
          <p:cNvSpPr/>
          <p:nvPr/>
        </p:nvSpPr>
        <p:spPr>
          <a:xfrm>
            <a:off x="3401568" y="1901952"/>
            <a:ext cx="2724912" cy="3410712"/>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401568" y="1901952"/>
            <a:ext cx="2724912" cy="502920"/>
          </a:xfrm>
          <a:prstGeom prst="rect">
            <a:avLst/>
          </a:prstGeom>
          <a:solidFill>
            <a:srgbClr val="1569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66160" y="2020824"/>
            <a:ext cx="2322576" cy="256032"/>
          </a:xfrm>
          <a:prstGeom prst="rect">
            <a:avLst/>
          </a:prstGeom>
          <a:noFill/>
        </p:spPr>
        <p:txBody>
          <a:bodyPr wrap="square" lIns="18288" tIns="18288" rIns="18288" bIns="18288" anchor="ctr">
            <a:spAutoFit/>
          </a:bodyPr>
          <a:lstStyle/>
          <a:p>
            <a:pPr>
              <a:spcBef>
                <a:spcPts val="0"/>
              </a:spcBef>
              <a:spcAft>
                <a:spcPts val="0"/>
              </a:spcAft>
            </a:pPr>
            <a:r>
              <a:rPr sz="1670" b="1">
                <a:solidFill>
                  <a:srgbClr val="FFFFFF"/>
                </a:solidFill>
                <a:latin typeface="Aptos"/>
              </a:rPr>
              <a:t>Q2</a:t>
            </a:r>
          </a:p>
        </p:txBody>
      </p:sp>
      <p:sp>
        <p:nvSpPr>
          <p:cNvPr id="17" name="TextBox 16"/>
          <p:cNvSpPr txBox="1"/>
          <p:nvPr/>
        </p:nvSpPr>
        <p:spPr>
          <a:xfrm>
            <a:off x="3584448" y="2697480"/>
            <a:ext cx="2322576" cy="649224"/>
          </a:xfrm>
          <a:prstGeom prst="rect">
            <a:avLst/>
          </a:prstGeom>
          <a:noFill/>
        </p:spPr>
        <p:txBody>
          <a:bodyPr wrap="square" lIns="18288" tIns="18288" rIns="18288" bIns="18288" anchor="ctr">
            <a:spAutoFit/>
          </a:bodyPr>
          <a:lstStyle/>
          <a:p>
            <a:pPr>
              <a:spcBef>
                <a:spcPts val="0"/>
              </a:spcBef>
              <a:spcAft>
                <a:spcPts val="0"/>
              </a:spcAft>
            </a:pPr>
            <a:r>
              <a:rPr sz="1810" b="1">
                <a:solidFill>
                  <a:srgbClr val="13283F"/>
                </a:solidFill>
                <a:latin typeface="Aptos"/>
              </a:rPr>
              <a:t>Ship refreshable insight</a:t>
            </a:r>
          </a:p>
        </p:txBody>
      </p:sp>
      <p:sp>
        <p:nvSpPr>
          <p:cNvPr id="18" name="TextBox 17"/>
          <p:cNvSpPr txBox="1"/>
          <p:nvPr/>
        </p:nvSpPr>
        <p:spPr>
          <a:xfrm>
            <a:off x="3575304" y="3557016"/>
            <a:ext cx="2295144" cy="914400"/>
          </a:xfrm>
          <a:prstGeom prst="rect">
            <a:avLst/>
          </a:prstGeom>
          <a:noFill/>
        </p:spPr>
        <p:txBody>
          <a:bodyPr wrap="square" lIns="18288" tIns="18288" rIns="18288" bIns="18288" anchor="ctr">
            <a:spAutoFit/>
          </a:bodyPr>
          <a:lstStyle/>
          <a:p>
            <a:pPr>
              <a:spcBef>
                <a:spcPts val="0"/>
              </a:spcBef>
              <a:spcAft>
                <a:spcPts val="0"/>
              </a:spcAft>
            </a:pPr>
            <a:r>
              <a:rPr sz="1400" b="0">
                <a:solidFill>
                  <a:srgbClr val="172B45"/>
                </a:solidFill>
                <a:latin typeface="Aptos"/>
              </a:rPr>
              <a:t>Save, manually refresh and schedule one weekly insight; permission-safe delivery.</a:t>
            </a:r>
          </a:p>
        </p:txBody>
      </p:sp>
      <p:sp>
        <p:nvSpPr>
          <p:cNvPr id="19" name="TextBox 18"/>
          <p:cNvSpPr txBox="1"/>
          <p:nvPr/>
        </p:nvSpPr>
        <p:spPr>
          <a:xfrm>
            <a:off x="3575304" y="4709160"/>
            <a:ext cx="2304288" cy="356616"/>
          </a:xfrm>
          <a:prstGeom prst="rect">
            <a:avLst/>
          </a:prstGeom>
          <a:noFill/>
        </p:spPr>
        <p:txBody>
          <a:bodyPr wrap="square" lIns="18288" tIns="18288" rIns="18288" bIns="18288" anchor="ctr">
            <a:spAutoFit/>
          </a:bodyPr>
          <a:lstStyle/>
          <a:p>
            <a:pPr>
              <a:spcBef>
                <a:spcPts val="0"/>
              </a:spcBef>
              <a:spcAft>
                <a:spcPts val="0"/>
              </a:spcAft>
            </a:pPr>
            <a:r>
              <a:rPr sz="1120" b="1">
                <a:solidFill>
                  <a:srgbClr val="1569C7"/>
                </a:solidFill>
                <a:latin typeface="Aptos"/>
              </a:rPr>
              <a:t>Gate: ≥95% pilot jobs; 0 leaks</a:t>
            </a:r>
          </a:p>
        </p:txBody>
      </p:sp>
      <p:sp>
        <p:nvSpPr>
          <p:cNvPr id="20" name="Rounded Rectangle 19"/>
          <p:cNvSpPr/>
          <p:nvPr/>
        </p:nvSpPr>
        <p:spPr>
          <a:xfrm>
            <a:off x="6309360" y="1901952"/>
            <a:ext cx="2724912" cy="3410712"/>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309360" y="1901952"/>
            <a:ext cx="2724912" cy="502920"/>
          </a:xfrm>
          <a:prstGeom prst="rect">
            <a:avLst/>
          </a:prstGeom>
          <a:solidFill>
            <a:srgbClr val="B568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3952" y="2020824"/>
            <a:ext cx="2322576" cy="256032"/>
          </a:xfrm>
          <a:prstGeom prst="rect">
            <a:avLst/>
          </a:prstGeom>
          <a:noFill/>
        </p:spPr>
        <p:txBody>
          <a:bodyPr wrap="square" lIns="18288" tIns="18288" rIns="18288" bIns="18288" anchor="ctr">
            <a:spAutoFit/>
          </a:bodyPr>
          <a:lstStyle/>
          <a:p>
            <a:pPr>
              <a:spcBef>
                <a:spcPts val="0"/>
              </a:spcBef>
              <a:spcAft>
                <a:spcPts val="0"/>
              </a:spcAft>
            </a:pPr>
            <a:r>
              <a:rPr sz="1670" b="1">
                <a:solidFill>
                  <a:srgbClr val="FFFFFF"/>
                </a:solidFill>
                <a:latin typeface="Aptos"/>
              </a:rPr>
              <a:t>Q3</a:t>
            </a:r>
          </a:p>
        </p:txBody>
      </p:sp>
      <p:sp>
        <p:nvSpPr>
          <p:cNvPr id="23" name="TextBox 22"/>
          <p:cNvSpPr txBox="1"/>
          <p:nvPr/>
        </p:nvSpPr>
        <p:spPr>
          <a:xfrm>
            <a:off x="6492240" y="2697480"/>
            <a:ext cx="2322576" cy="649224"/>
          </a:xfrm>
          <a:prstGeom prst="rect">
            <a:avLst/>
          </a:prstGeom>
          <a:noFill/>
        </p:spPr>
        <p:txBody>
          <a:bodyPr wrap="square" lIns="18288" tIns="18288" rIns="18288" bIns="18288" anchor="ctr">
            <a:spAutoFit/>
          </a:bodyPr>
          <a:lstStyle/>
          <a:p>
            <a:pPr>
              <a:spcBef>
                <a:spcPts val="0"/>
              </a:spcBef>
              <a:spcAft>
                <a:spcPts val="0"/>
              </a:spcAft>
            </a:pPr>
            <a:r>
              <a:rPr sz="1810" b="1">
                <a:solidFill>
                  <a:srgbClr val="13283F"/>
                </a:solidFill>
                <a:latin typeface="Aptos"/>
              </a:rPr>
              <a:t>Add useful exception alerts</a:t>
            </a:r>
          </a:p>
        </p:txBody>
      </p:sp>
      <p:sp>
        <p:nvSpPr>
          <p:cNvPr id="24" name="TextBox 23"/>
          <p:cNvSpPr txBox="1"/>
          <p:nvPr/>
        </p:nvSpPr>
        <p:spPr>
          <a:xfrm>
            <a:off x="6483096" y="3557016"/>
            <a:ext cx="2295144" cy="914400"/>
          </a:xfrm>
          <a:prstGeom prst="rect">
            <a:avLst/>
          </a:prstGeom>
          <a:noFill/>
        </p:spPr>
        <p:txBody>
          <a:bodyPr wrap="square" lIns="18288" tIns="18288" rIns="18288" bIns="18288" anchor="ctr">
            <a:spAutoFit/>
          </a:bodyPr>
          <a:lstStyle/>
          <a:p>
            <a:pPr>
              <a:spcBef>
                <a:spcPts val="0"/>
              </a:spcBef>
              <a:spcAft>
                <a:spcPts val="0"/>
              </a:spcAft>
            </a:pPr>
            <a:r>
              <a:rPr sz="1400" b="0">
                <a:solidFill>
                  <a:srgbClr val="172B45"/>
                </a:solidFill>
                <a:latin typeface="Aptos"/>
              </a:rPr>
              <a:t>Configurable thresholds for repeat-visit or utilization anomalies.</a:t>
            </a:r>
          </a:p>
        </p:txBody>
      </p:sp>
      <p:sp>
        <p:nvSpPr>
          <p:cNvPr id="25" name="TextBox 24"/>
          <p:cNvSpPr txBox="1"/>
          <p:nvPr/>
        </p:nvSpPr>
        <p:spPr>
          <a:xfrm>
            <a:off x="6483096" y="4709160"/>
            <a:ext cx="2304288" cy="356616"/>
          </a:xfrm>
          <a:prstGeom prst="rect">
            <a:avLst/>
          </a:prstGeom>
          <a:noFill/>
        </p:spPr>
        <p:txBody>
          <a:bodyPr wrap="square" lIns="18288" tIns="18288" rIns="18288" bIns="18288" anchor="ctr">
            <a:spAutoFit/>
          </a:bodyPr>
          <a:lstStyle/>
          <a:p>
            <a:pPr>
              <a:spcBef>
                <a:spcPts val="0"/>
              </a:spcBef>
              <a:spcAft>
                <a:spcPts val="0"/>
              </a:spcAft>
            </a:pPr>
            <a:r>
              <a:rPr sz="1120" b="1">
                <a:solidFill>
                  <a:srgbClr val="B56812"/>
                </a:solidFill>
                <a:latin typeface="Aptos"/>
              </a:rPr>
              <a:t>Gate: low false-alert burden + weekly use</a:t>
            </a:r>
          </a:p>
        </p:txBody>
      </p:sp>
      <p:sp>
        <p:nvSpPr>
          <p:cNvPr id="26" name="Rounded Rectangle 25"/>
          <p:cNvSpPr/>
          <p:nvPr/>
        </p:nvSpPr>
        <p:spPr>
          <a:xfrm>
            <a:off x="9217152" y="1901952"/>
            <a:ext cx="2724912" cy="3410712"/>
          </a:xfrm>
          <a:prstGeom prst="round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217152" y="1901952"/>
            <a:ext cx="2724912" cy="502920"/>
          </a:xfrm>
          <a:prstGeom prst="rect">
            <a:avLst/>
          </a:prstGeom>
          <a:solidFill>
            <a:srgbClr val="187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81744" y="2020824"/>
            <a:ext cx="2322576" cy="256032"/>
          </a:xfrm>
          <a:prstGeom prst="rect">
            <a:avLst/>
          </a:prstGeom>
          <a:noFill/>
        </p:spPr>
        <p:txBody>
          <a:bodyPr wrap="square" lIns="18288" tIns="18288" rIns="18288" bIns="18288" anchor="ctr">
            <a:spAutoFit/>
          </a:bodyPr>
          <a:lstStyle/>
          <a:p>
            <a:pPr>
              <a:spcBef>
                <a:spcPts val="0"/>
              </a:spcBef>
              <a:spcAft>
                <a:spcPts val="0"/>
              </a:spcAft>
            </a:pPr>
            <a:r>
              <a:rPr sz="1670" b="1">
                <a:solidFill>
                  <a:srgbClr val="FFFFFF"/>
                </a:solidFill>
                <a:latin typeface="Aptos"/>
              </a:rPr>
              <a:t>Q4</a:t>
            </a:r>
          </a:p>
        </p:txBody>
      </p:sp>
      <p:sp>
        <p:nvSpPr>
          <p:cNvPr id="29" name="TextBox 28"/>
          <p:cNvSpPr txBox="1"/>
          <p:nvPr/>
        </p:nvSpPr>
        <p:spPr>
          <a:xfrm>
            <a:off x="9400032" y="2697480"/>
            <a:ext cx="2322576" cy="649224"/>
          </a:xfrm>
          <a:prstGeom prst="rect">
            <a:avLst/>
          </a:prstGeom>
          <a:noFill/>
        </p:spPr>
        <p:txBody>
          <a:bodyPr wrap="square" lIns="18288" tIns="18288" rIns="18288" bIns="18288" anchor="ctr">
            <a:spAutoFit/>
          </a:bodyPr>
          <a:lstStyle/>
          <a:p>
            <a:pPr>
              <a:spcBef>
                <a:spcPts val="0"/>
              </a:spcBef>
              <a:spcAft>
                <a:spcPts val="0"/>
              </a:spcAft>
            </a:pPr>
            <a:r>
              <a:rPr sz="1810" b="1">
                <a:solidFill>
                  <a:srgbClr val="13283F"/>
                </a:solidFill>
                <a:latin typeface="Aptos"/>
              </a:rPr>
              <a:t>Measure and commercialize</a:t>
            </a:r>
          </a:p>
        </p:txBody>
      </p:sp>
      <p:sp>
        <p:nvSpPr>
          <p:cNvPr id="30" name="TextBox 29"/>
          <p:cNvSpPr txBox="1"/>
          <p:nvPr/>
        </p:nvSpPr>
        <p:spPr>
          <a:xfrm>
            <a:off x="9390888" y="3557016"/>
            <a:ext cx="2295144" cy="914400"/>
          </a:xfrm>
          <a:prstGeom prst="rect">
            <a:avLst/>
          </a:prstGeom>
          <a:noFill/>
        </p:spPr>
        <p:txBody>
          <a:bodyPr wrap="square" lIns="18288" tIns="18288" rIns="18288" bIns="18288" anchor="ctr">
            <a:spAutoFit/>
          </a:bodyPr>
          <a:lstStyle/>
          <a:p>
            <a:pPr>
              <a:spcBef>
                <a:spcPts val="0"/>
              </a:spcBef>
              <a:spcAft>
                <a:spcPts val="0"/>
              </a:spcAft>
            </a:pPr>
            <a:r>
              <a:rPr sz="1400" b="0">
                <a:solidFill>
                  <a:srgbClr val="172B45"/>
                </a:solidFill>
                <a:latin typeface="Aptos"/>
              </a:rPr>
              <a:t>Record human actions; test incremental profit and premium packaging.</a:t>
            </a:r>
          </a:p>
        </p:txBody>
      </p:sp>
      <p:sp>
        <p:nvSpPr>
          <p:cNvPr id="31" name="TextBox 30"/>
          <p:cNvSpPr txBox="1"/>
          <p:nvPr/>
        </p:nvSpPr>
        <p:spPr>
          <a:xfrm>
            <a:off x="9390888" y="4709160"/>
            <a:ext cx="2304288" cy="356616"/>
          </a:xfrm>
          <a:prstGeom prst="rect">
            <a:avLst/>
          </a:prstGeom>
          <a:noFill/>
        </p:spPr>
        <p:txBody>
          <a:bodyPr wrap="square" lIns="18288" tIns="18288" rIns="18288" bIns="18288" anchor="ctr">
            <a:spAutoFit/>
          </a:bodyPr>
          <a:lstStyle/>
          <a:p>
            <a:pPr>
              <a:spcBef>
                <a:spcPts val="0"/>
              </a:spcBef>
              <a:spcAft>
                <a:spcPts val="0"/>
              </a:spcAft>
            </a:pPr>
            <a:r>
              <a:rPr sz="1120" b="1">
                <a:solidFill>
                  <a:srgbClr val="187D54"/>
                </a:solidFill>
                <a:latin typeface="Aptos"/>
              </a:rPr>
              <a:t>Gate: paid interest + sustainable cost</a:t>
            </a:r>
          </a:p>
        </p:txBody>
      </p:sp>
      <p:sp>
        <p:nvSpPr>
          <p:cNvPr id="32" name="Rounded Rectangle 31"/>
          <p:cNvSpPr/>
          <p:nvPr/>
        </p:nvSpPr>
        <p:spPr>
          <a:xfrm>
            <a:off x="512064" y="5568696"/>
            <a:ext cx="11045952" cy="548640"/>
          </a:xfrm>
          <a:prstGeom prst="roundRect">
            <a:avLst/>
          </a:prstGeom>
          <a:solidFill>
            <a:srgbClr val="EC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04088" y="5724144"/>
            <a:ext cx="10680192" cy="246888"/>
          </a:xfrm>
          <a:prstGeom prst="rect">
            <a:avLst/>
          </a:prstGeom>
          <a:noFill/>
        </p:spPr>
        <p:txBody>
          <a:bodyPr wrap="square" lIns="18288" tIns="18288" rIns="18288" bIns="18288" anchor="ctr">
            <a:spAutoFit/>
          </a:bodyPr>
          <a:lstStyle/>
          <a:p>
            <a:pPr>
              <a:spcBef>
                <a:spcPts val="0"/>
              </a:spcBef>
              <a:spcAft>
                <a:spcPts val="0"/>
              </a:spcAft>
            </a:pPr>
            <a:r>
              <a:rPr sz="1350" b="1">
                <a:solidFill>
                  <a:srgbClr val="13283F"/>
                </a:solidFill>
                <a:latin typeface="Aptos"/>
              </a:rPr>
              <a:t>NOT IN THE FIRST MVP   Another chatbot • new churn model • auto-send campaigns • unrestricted file sharing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
          </a:xfrm>
          <a:prstGeom prst="rect">
            <a:avLst/>
          </a:prstGeom>
          <a:solidFill>
            <a:srgbClr val="007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84632" y="228600"/>
            <a:ext cx="10058400" cy="274320"/>
          </a:xfrm>
          <a:prstGeom prst="rect">
            <a:avLst/>
          </a:prstGeom>
          <a:noFill/>
        </p:spPr>
        <p:txBody>
          <a:bodyPr wrap="square" lIns="18288" tIns="18288" rIns="18288" bIns="18288" anchor="ctr">
            <a:spAutoFit/>
          </a:bodyPr>
          <a:lstStyle/>
          <a:p>
            <a:pPr>
              <a:spcBef>
                <a:spcPts val="0"/>
              </a:spcBef>
              <a:spcAft>
                <a:spcPts val="0"/>
              </a:spcAft>
            </a:pPr>
            <a:r>
              <a:rPr sz="1120" b="1">
                <a:solidFill>
                  <a:srgbClr val="007E78"/>
                </a:solidFill>
                <a:latin typeface="Aptos"/>
              </a:rPr>
              <a:t>MEERA · CUSTOMER ROI</a:t>
            </a:r>
          </a:p>
        </p:txBody>
      </p:sp>
      <p:sp>
        <p:nvSpPr>
          <p:cNvPr id="5" name="TextBox 4"/>
          <p:cNvSpPr txBox="1"/>
          <p:nvPr/>
        </p:nvSpPr>
        <p:spPr>
          <a:xfrm>
            <a:off x="484632" y="685062"/>
            <a:ext cx="11155680" cy="467820"/>
          </a:xfrm>
          <a:prstGeom prst="rect">
            <a:avLst/>
          </a:prstGeom>
          <a:noFill/>
        </p:spPr>
        <p:txBody>
          <a:bodyPr wrap="square" lIns="18288" tIns="18288" rIns="18288" bIns="18288" anchor="ctr">
            <a:spAutoFit/>
          </a:bodyPr>
          <a:lstStyle/>
          <a:p>
            <a:pPr>
              <a:spcBef>
                <a:spcPts val="0"/>
              </a:spcBef>
              <a:spcAft>
                <a:spcPts val="0"/>
              </a:spcAft>
            </a:pPr>
            <a:r>
              <a:rPr sz="2800" b="1" dirty="0">
                <a:solidFill>
                  <a:srgbClr val="13283F"/>
                </a:solidFill>
                <a:latin typeface="Aptos"/>
              </a:rPr>
              <a:t>Meera sees the profit impact</a:t>
            </a:r>
            <a:r>
              <a:rPr lang="en-IN" sz="2800" b="1" dirty="0">
                <a:solidFill>
                  <a:srgbClr val="13283F"/>
                </a:solidFill>
                <a:latin typeface="Aptos"/>
              </a:rPr>
              <a:t> - </a:t>
            </a:r>
            <a:r>
              <a:rPr sz="2800" b="1" dirty="0">
                <a:solidFill>
                  <a:srgbClr val="13283F"/>
                </a:solidFill>
                <a:latin typeface="Aptos"/>
              </a:rPr>
              <a:t>not just AI usage</a:t>
            </a:r>
          </a:p>
        </p:txBody>
      </p:sp>
      <p:sp>
        <p:nvSpPr>
          <p:cNvPr id="6" name="TextBox 5"/>
          <p:cNvSpPr txBox="1"/>
          <p:nvPr/>
        </p:nvSpPr>
        <p:spPr>
          <a:xfrm>
            <a:off x="493776" y="1252728"/>
            <a:ext cx="11064240" cy="429768"/>
          </a:xfrm>
          <a:prstGeom prst="rect">
            <a:avLst/>
          </a:prstGeom>
          <a:noFill/>
        </p:spPr>
        <p:txBody>
          <a:bodyPr wrap="square" lIns="18288" tIns="18288" rIns="18288" bIns="18288" anchor="ctr">
            <a:spAutoFit/>
          </a:bodyPr>
          <a:lstStyle/>
          <a:p>
            <a:pPr>
              <a:spcBef>
                <a:spcPts val="0"/>
              </a:spcBef>
              <a:spcAft>
                <a:spcPts val="0"/>
              </a:spcAft>
            </a:pPr>
            <a:r>
              <a:rPr sz="1570" b="0">
                <a:solidFill>
                  <a:srgbClr val="63788C"/>
                </a:solidFill>
                <a:latin typeface="Aptos"/>
              </a:rPr>
              <a:t>Insight → manager action → incremental paid visits → contribution margin, measured against a control.</a:t>
            </a:r>
          </a:p>
        </p:txBody>
      </p:sp>
      <p:sp>
        <p:nvSpPr>
          <p:cNvPr id="7" name="TextBox 6"/>
          <p:cNvSpPr txBox="1"/>
          <p:nvPr/>
        </p:nvSpPr>
        <p:spPr>
          <a:xfrm>
            <a:off x="11274552" y="6437376"/>
            <a:ext cx="438912" cy="219456"/>
          </a:xfrm>
          <a:prstGeom prst="rect">
            <a:avLst/>
          </a:prstGeom>
          <a:noFill/>
        </p:spPr>
        <p:txBody>
          <a:bodyPr wrap="square" lIns="18288" tIns="18288" rIns="18288" bIns="18288" anchor="ctr">
            <a:spAutoFit/>
          </a:bodyPr>
          <a:lstStyle/>
          <a:p>
            <a:pPr algn="r">
              <a:spcBef>
                <a:spcPts val="0"/>
              </a:spcBef>
              <a:spcAft>
                <a:spcPts val="0"/>
              </a:spcAft>
            </a:pPr>
            <a:r>
              <a:rPr sz="1050" b="1">
                <a:solidFill>
                  <a:srgbClr val="63788C"/>
                </a:solidFill>
                <a:latin typeface="Aptos"/>
              </a:rPr>
              <a:t>10</a:t>
            </a:r>
          </a:p>
        </p:txBody>
      </p:sp>
      <p:sp>
        <p:nvSpPr>
          <p:cNvPr id="8" name="Rounded Rectangle 7"/>
          <p:cNvSpPr/>
          <p:nvPr/>
        </p:nvSpPr>
        <p:spPr>
          <a:xfrm>
            <a:off x="484632" y="1837943"/>
            <a:ext cx="11219688" cy="722376"/>
          </a:xfrm>
          <a:prstGeom prst="roundRect">
            <a:avLst/>
          </a:prstGeom>
          <a:solidFill>
            <a:srgbClr val="13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2011680"/>
            <a:ext cx="2002536" cy="256032"/>
          </a:xfrm>
          <a:prstGeom prst="rect">
            <a:avLst/>
          </a:prstGeom>
          <a:noFill/>
        </p:spPr>
        <p:txBody>
          <a:bodyPr wrap="square" lIns="18288" tIns="18288" rIns="18288" bIns="18288" anchor="ctr">
            <a:spAutoFit/>
          </a:bodyPr>
          <a:lstStyle/>
          <a:p>
            <a:pPr>
              <a:spcBef>
                <a:spcPts val="0"/>
              </a:spcBef>
              <a:spcAft>
                <a:spcPts val="0"/>
              </a:spcAft>
            </a:pPr>
            <a:r>
              <a:rPr sz="1220" b="1">
                <a:solidFill>
                  <a:srgbClr val="A7DDD6"/>
                </a:solidFill>
                <a:latin typeface="Aptos"/>
              </a:rPr>
              <a:t>ILLUSTRATIVE BASELINE</a:t>
            </a:r>
          </a:p>
        </p:txBody>
      </p:sp>
      <p:sp>
        <p:nvSpPr>
          <p:cNvPr id="10" name="TextBox 9"/>
          <p:cNvSpPr txBox="1"/>
          <p:nvPr/>
        </p:nvSpPr>
        <p:spPr>
          <a:xfrm>
            <a:off x="2688336" y="1956816"/>
            <a:ext cx="8622792" cy="411480"/>
          </a:xfrm>
          <a:prstGeom prst="rect">
            <a:avLst/>
          </a:prstGeom>
          <a:noFill/>
        </p:spPr>
        <p:txBody>
          <a:bodyPr wrap="square" lIns="18288" tIns="18288" rIns="18288" bIns="18288" anchor="ctr">
            <a:spAutoFit/>
          </a:bodyPr>
          <a:lstStyle/>
          <a:p>
            <a:pPr>
              <a:spcBef>
                <a:spcPts val="0"/>
              </a:spcBef>
              <a:spcAft>
                <a:spcPts val="0"/>
              </a:spcAft>
            </a:pPr>
            <a:r>
              <a:rPr sz="1789" b="1">
                <a:solidFill>
                  <a:srgbClr val="FFFFFF"/>
                </a:solidFill>
                <a:latin typeface="Aptos"/>
              </a:rPr>
              <a:t>20 salons × 900 paid visits / month × 12 = 216,000 annual visits</a:t>
            </a:r>
          </a:p>
        </p:txBody>
      </p:sp>
      <p:sp>
        <p:nvSpPr>
          <p:cNvPr id="11" name="TextBox 10"/>
          <p:cNvSpPr txBox="1"/>
          <p:nvPr/>
        </p:nvSpPr>
        <p:spPr>
          <a:xfrm>
            <a:off x="704088" y="2816352"/>
            <a:ext cx="1280160" cy="256032"/>
          </a:xfrm>
          <a:prstGeom prst="rect">
            <a:avLst/>
          </a:prstGeom>
          <a:noFill/>
        </p:spPr>
        <p:txBody>
          <a:bodyPr wrap="square" lIns="18288" tIns="18288" rIns="18288" bIns="18288" anchor="ctr">
            <a:spAutoFit/>
          </a:bodyPr>
          <a:lstStyle/>
          <a:p>
            <a:pPr>
              <a:spcBef>
                <a:spcPts val="0"/>
              </a:spcBef>
              <a:spcAft>
                <a:spcPts val="0"/>
              </a:spcAft>
            </a:pPr>
            <a:r>
              <a:rPr sz="1210" b="1">
                <a:solidFill>
                  <a:srgbClr val="63788C"/>
                </a:solidFill>
                <a:latin typeface="Aptos"/>
              </a:rPr>
              <a:t>LIFT</a:t>
            </a:r>
          </a:p>
        </p:txBody>
      </p:sp>
      <p:sp>
        <p:nvSpPr>
          <p:cNvPr id="12" name="TextBox 11"/>
          <p:cNvSpPr txBox="1"/>
          <p:nvPr/>
        </p:nvSpPr>
        <p:spPr>
          <a:xfrm>
            <a:off x="2185416" y="2816352"/>
            <a:ext cx="2103120" cy="256032"/>
          </a:xfrm>
          <a:prstGeom prst="rect">
            <a:avLst/>
          </a:prstGeom>
          <a:noFill/>
        </p:spPr>
        <p:txBody>
          <a:bodyPr wrap="square" lIns="18288" tIns="18288" rIns="18288" bIns="18288" anchor="ctr">
            <a:spAutoFit/>
          </a:bodyPr>
          <a:lstStyle/>
          <a:p>
            <a:pPr>
              <a:spcBef>
                <a:spcPts val="0"/>
              </a:spcBef>
              <a:spcAft>
                <a:spcPts val="0"/>
              </a:spcAft>
            </a:pPr>
            <a:r>
              <a:rPr sz="1210" b="1">
                <a:solidFill>
                  <a:srgbClr val="63788C"/>
                </a:solidFill>
                <a:latin typeface="Aptos"/>
              </a:rPr>
              <a:t>ADDED PAID VISITS</a:t>
            </a:r>
          </a:p>
        </p:txBody>
      </p:sp>
      <p:sp>
        <p:nvSpPr>
          <p:cNvPr id="13" name="TextBox 12"/>
          <p:cNvSpPr txBox="1"/>
          <p:nvPr/>
        </p:nvSpPr>
        <p:spPr>
          <a:xfrm>
            <a:off x="4700016" y="2816352"/>
            <a:ext cx="2286000" cy="256032"/>
          </a:xfrm>
          <a:prstGeom prst="rect">
            <a:avLst/>
          </a:prstGeom>
          <a:noFill/>
        </p:spPr>
        <p:txBody>
          <a:bodyPr wrap="square" lIns="18288" tIns="18288" rIns="18288" bIns="18288" anchor="ctr">
            <a:spAutoFit/>
          </a:bodyPr>
          <a:lstStyle/>
          <a:p>
            <a:pPr>
              <a:spcBef>
                <a:spcPts val="0"/>
              </a:spcBef>
              <a:spcAft>
                <a:spcPts val="0"/>
              </a:spcAft>
            </a:pPr>
            <a:r>
              <a:rPr sz="1210" b="1">
                <a:solidFill>
                  <a:srgbClr val="63788C"/>
                </a:solidFill>
                <a:latin typeface="Aptos"/>
              </a:rPr>
              <a:t>ADDITIONAL SALES</a:t>
            </a:r>
          </a:p>
        </p:txBody>
      </p:sp>
      <p:sp>
        <p:nvSpPr>
          <p:cNvPr id="14" name="TextBox 13"/>
          <p:cNvSpPr txBox="1"/>
          <p:nvPr/>
        </p:nvSpPr>
        <p:spPr>
          <a:xfrm>
            <a:off x="7406640" y="2816352"/>
            <a:ext cx="2130552" cy="256032"/>
          </a:xfrm>
          <a:prstGeom prst="rect">
            <a:avLst/>
          </a:prstGeom>
          <a:noFill/>
        </p:spPr>
        <p:txBody>
          <a:bodyPr wrap="square" lIns="18288" tIns="18288" rIns="18288" bIns="18288" anchor="ctr">
            <a:spAutoFit/>
          </a:bodyPr>
          <a:lstStyle/>
          <a:p>
            <a:pPr>
              <a:spcBef>
                <a:spcPts val="0"/>
              </a:spcBef>
              <a:spcAft>
                <a:spcPts val="0"/>
              </a:spcAft>
            </a:pPr>
            <a:r>
              <a:rPr sz="1210" b="1">
                <a:solidFill>
                  <a:srgbClr val="63788C"/>
                </a:solidFill>
                <a:latin typeface="Aptos"/>
              </a:rPr>
              <a:t>CONTRIBUTION</a:t>
            </a:r>
          </a:p>
        </p:txBody>
      </p:sp>
      <p:sp>
        <p:nvSpPr>
          <p:cNvPr id="15" name="Rectangle 14"/>
          <p:cNvSpPr/>
          <p:nvPr/>
        </p:nvSpPr>
        <p:spPr>
          <a:xfrm>
            <a:off x="539496" y="3191256"/>
            <a:ext cx="10177272" cy="521207"/>
          </a:xfrm>
          <a:prstGeom prst="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282696"/>
            <a:ext cx="1188720" cy="283464"/>
          </a:xfrm>
          <a:prstGeom prst="rect">
            <a:avLst/>
          </a:prstGeom>
          <a:noFill/>
        </p:spPr>
        <p:txBody>
          <a:bodyPr wrap="square" lIns="18288" tIns="18288" rIns="18288" bIns="18288" anchor="ctr">
            <a:spAutoFit/>
          </a:bodyPr>
          <a:lstStyle/>
          <a:p>
            <a:pPr>
              <a:spcBef>
                <a:spcPts val="0"/>
              </a:spcBef>
              <a:spcAft>
                <a:spcPts val="0"/>
              </a:spcAft>
            </a:pPr>
            <a:r>
              <a:rPr sz="1739" b="1">
                <a:solidFill>
                  <a:srgbClr val="172B45"/>
                </a:solidFill>
                <a:latin typeface="Aptos"/>
              </a:rPr>
              <a:t>.25%</a:t>
            </a:r>
          </a:p>
        </p:txBody>
      </p:sp>
      <p:sp>
        <p:nvSpPr>
          <p:cNvPr id="17" name="TextBox 16"/>
          <p:cNvSpPr txBox="1"/>
          <p:nvPr/>
        </p:nvSpPr>
        <p:spPr>
          <a:xfrm>
            <a:off x="2240280" y="3282696"/>
            <a:ext cx="2112264" cy="283464"/>
          </a:xfrm>
          <a:prstGeom prst="rect">
            <a:avLst/>
          </a:prstGeom>
          <a:noFill/>
        </p:spPr>
        <p:txBody>
          <a:bodyPr wrap="square" lIns="18288" tIns="18288" rIns="18288" bIns="18288" anchor="ctr">
            <a:spAutoFit/>
          </a:bodyPr>
          <a:lstStyle/>
          <a:p>
            <a:pPr>
              <a:spcBef>
                <a:spcPts val="0"/>
              </a:spcBef>
              <a:spcAft>
                <a:spcPts val="0"/>
              </a:spcAft>
            </a:pPr>
            <a:r>
              <a:rPr sz="1739" b="1">
                <a:solidFill>
                  <a:srgbClr val="172B45"/>
                </a:solidFill>
                <a:latin typeface="Aptos"/>
              </a:rPr>
              <a:t>540</a:t>
            </a:r>
          </a:p>
        </p:txBody>
      </p:sp>
      <p:sp>
        <p:nvSpPr>
          <p:cNvPr id="18" name="TextBox 17"/>
          <p:cNvSpPr txBox="1"/>
          <p:nvPr/>
        </p:nvSpPr>
        <p:spPr>
          <a:xfrm>
            <a:off x="4764024" y="3282696"/>
            <a:ext cx="2240280" cy="283464"/>
          </a:xfrm>
          <a:prstGeom prst="rect">
            <a:avLst/>
          </a:prstGeom>
          <a:noFill/>
        </p:spPr>
        <p:txBody>
          <a:bodyPr wrap="square" lIns="18288" tIns="18288" rIns="18288" bIns="18288" anchor="ctr">
            <a:spAutoFit/>
          </a:bodyPr>
          <a:lstStyle/>
          <a:p>
            <a:pPr>
              <a:spcBef>
                <a:spcPts val="0"/>
              </a:spcBef>
              <a:spcAft>
                <a:spcPts val="0"/>
              </a:spcAft>
            </a:pPr>
            <a:r>
              <a:rPr sz="1739" b="1">
                <a:solidFill>
                  <a:srgbClr val="172B45"/>
                </a:solidFill>
                <a:latin typeface="Aptos"/>
              </a:rPr>
              <a:t>$51.3K</a:t>
            </a:r>
          </a:p>
        </p:txBody>
      </p:sp>
      <p:sp>
        <p:nvSpPr>
          <p:cNvPr id="19" name="TextBox 18"/>
          <p:cNvSpPr txBox="1"/>
          <p:nvPr/>
        </p:nvSpPr>
        <p:spPr>
          <a:xfrm>
            <a:off x="7461504" y="3282696"/>
            <a:ext cx="2112264" cy="283464"/>
          </a:xfrm>
          <a:prstGeom prst="rect">
            <a:avLst/>
          </a:prstGeom>
          <a:noFill/>
        </p:spPr>
        <p:txBody>
          <a:bodyPr wrap="square" lIns="18288" tIns="18288" rIns="18288" bIns="18288" anchor="ctr">
            <a:spAutoFit/>
          </a:bodyPr>
          <a:lstStyle/>
          <a:p>
            <a:pPr>
              <a:spcBef>
                <a:spcPts val="0"/>
              </a:spcBef>
              <a:spcAft>
                <a:spcPts val="0"/>
              </a:spcAft>
            </a:pPr>
            <a:r>
              <a:rPr sz="1739" b="1">
                <a:solidFill>
                  <a:srgbClr val="172B45"/>
                </a:solidFill>
                <a:latin typeface="Aptos"/>
              </a:rPr>
              <a:t>$18.0K</a:t>
            </a:r>
          </a:p>
        </p:txBody>
      </p:sp>
      <p:sp>
        <p:nvSpPr>
          <p:cNvPr id="20" name="Rectangle 19"/>
          <p:cNvSpPr/>
          <p:nvPr/>
        </p:nvSpPr>
        <p:spPr>
          <a:xfrm>
            <a:off x="539496" y="3831336"/>
            <a:ext cx="10177272" cy="521207"/>
          </a:xfrm>
          <a:prstGeom prst="rect">
            <a:avLst/>
          </a:prstGeom>
          <a:solidFill>
            <a:srgbClr val="DC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3922776"/>
            <a:ext cx="1188720" cy="283464"/>
          </a:xfrm>
          <a:prstGeom prst="rect">
            <a:avLst/>
          </a:prstGeom>
          <a:noFill/>
        </p:spPr>
        <p:txBody>
          <a:bodyPr wrap="square" lIns="18288" tIns="18288" rIns="18288" bIns="18288" anchor="ctr">
            <a:spAutoFit/>
          </a:bodyPr>
          <a:lstStyle/>
          <a:p>
            <a:pPr>
              <a:spcBef>
                <a:spcPts val="0"/>
              </a:spcBef>
              <a:spcAft>
                <a:spcPts val="0"/>
              </a:spcAft>
            </a:pPr>
            <a:r>
              <a:rPr sz="1739" b="1">
                <a:solidFill>
                  <a:srgbClr val="13283F"/>
                </a:solidFill>
                <a:latin typeface="Aptos"/>
              </a:rPr>
              <a:t>0.50%</a:t>
            </a:r>
          </a:p>
        </p:txBody>
      </p:sp>
      <p:sp>
        <p:nvSpPr>
          <p:cNvPr id="22" name="TextBox 21"/>
          <p:cNvSpPr txBox="1"/>
          <p:nvPr/>
        </p:nvSpPr>
        <p:spPr>
          <a:xfrm>
            <a:off x="2240280" y="3922776"/>
            <a:ext cx="2112264" cy="283464"/>
          </a:xfrm>
          <a:prstGeom prst="rect">
            <a:avLst/>
          </a:prstGeom>
          <a:noFill/>
        </p:spPr>
        <p:txBody>
          <a:bodyPr wrap="square" lIns="18288" tIns="18288" rIns="18288" bIns="18288" anchor="ctr">
            <a:spAutoFit/>
          </a:bodyPr>
          <a:lstStyle/>
          <a:p>
            <a:pPr>
              <a:spcBef>
                <a:spcPts val="0"/>
              </a:spcBef>
              <a:spcAft>
                <a:spcPts val="0"/>
              </a:spcAft>
            </a:pPr>
            <a:r>
              <a:rPr sz="1739" b="1">
                <a:solidFill>
                  <a:srgbClr val="13283F"/>
                </a:solidFill>
                <a:latin typeface="Aptos"/>
              </a:rPr>
              <a:t>1,080</a:t>
            </a:r>
          </a:p>
        </p:txBody>
      </p:sp>
      <p:sp>
        <p:nvSpPr>
          <p:cNvPr id="23" name="TextBox 22"/>
          <p:cNvSpPr txBox="1"/>
          <p:nvPr/>
        </p:nvSpPr>
        <p:spPr>
          <a:xfrm>
            <a:off x="4764024" y="3922776"/>
            <a:ext cx="2240280" cy="283464"/>
          </a:xfrm>
          <a:prstGeom prst="rect">
            <a:avLst/>
          </a:prstGeom>
          <a:noFill/>
        </p:spPr>
        <p:txBody>
          <a:bodyPr wrap="square" lIns="18288" tIns="18288" rIns="18288" bIns="18288" anchor="ctr">
            <a:spAutoFit/>
          </a:bodyPr>
          <a:lstStyle/>
          <a:p>
            <a:pPr>
              <a:spcBef>
                <a:spcPts val="0"/>
              </a:spcBef>
              <a:spcAft>
                <a:spcPts val="0"/>
              </a:spcAft>
            </a:pPr>
            <a:r>
              <a:rPr sz="1739" b="1">
                <a:solidFill>
                  <a:srgbClr val="13283F"/>
                </a:solidFill>
                <a:latin typeface="Aptos"/>
              </a:rPr>
              <a:t>$102.6K</a:t>
            </a:r>
          </a:p>
        </p:txBody>
      </p:sp>
      <p:sp>
        <p:nvSpPr>
          <p:cNvPr id="24" name="TextBox 23"/>
          <p:cNvSpPr txBox="1"/>
          <p:nvPr/>
        </p:nvSpPr>
        <p:spPr>
          <a:xfrm>
            <a:off x="7461504" y="3922776"/>
            <a:ext cx="2112264" cy="283464"/>
          </a:xfrm>
          <a:prstGeom prst="rect">
            <a:avLst/>
          </a:prstGeom>
          <a:noFill/>
        </p:spPr>
        <p:txBody>
          <a:bodyPr wrap="square" lIns="18288" tIns="18288" rIns="18288" bIns="18288" anchor="ctr">
            <a:spAutoFit/>
          </a:bodyPr>
          <a:lstStyle/>
          <a:p>
            <a:pPr>
              <a:spcBef>
                <a:spcPts val="0"/>
              </a:spcBef>
              <a:spcAft>
                <a:spcPts val="0"/>
              </a:spcAft>
            </a:pPr>
            <a:r>
              <a:rPr sz="1739" b="1">
                <a:solidFill>
                  <a:srgbClr val="13283F"/>
                </a:solidFill>
                <a:latin typeface="Aptos"/>
              </a:rPr>
              <a:t>$35.9K</a:t>
            </a:r>
          </a:p>
        </p:txBody>
      </p:sp>
      <p:sp>
        <p:nvSpPr>
          <p:cNvPr id="25" name="Rectangle 24"/>
          <p:cNvSpPr/>
          <p:nvPr/>
        </p:nvSpPr>
        <p:spPr>
          <a:xfrm>
            <a:off x="539496" y="4471416"/>
            <a:ext cx="10177272" cy="521207"/>
          </a:xfrm>
          <a:prstGeom prst="rect">
            <a:avLst/>
          </a:prstGeom>
          <a:solidFill>
            <a:srgbClr val="FFFFFF"/>
          </a:solidFill>
          <a:ln w="10160">
            <a:solidFill>
              <a:srgbClr val="DC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4562856"/>
            <a:ext cx="1188720" cy="283464"/>
          </a:xfrm>
          <a:prstGeom prst="rect">
            <a:avLst/>
          </a:prstGeom>
          <a:noFill/>
        </p:spPr>
        <p:txBody>
          <a:bodyPr wrap="square" lIns="18288" tIns="18288" rIns="18288" bIns="18288" anchor="ctr">
            <a:spAutoFit/>
          </a:bodyPr>
          <a:lstStyle/>
          <a:p>
            <a:pPr>
              <a:spcBef>
                <a:spcPts val="0"/>
              </a:spcBef>
              <a:spcAft>
                <a:spcPts val="0"/>
              </a:spcAft>
            </a:pPr>
            <a:r>
              <a:rPr sz="1739" b="1">
                <a:solidFill>
                  <a:srgbClr val="172B45"/>
                </a:solidFill>
                <a:latin typeface="Aptos"/>
              </a:rPr>
              <a:t>1.00%</a:t>
            </a:r>
          </a:p>
        </p:txBody>
      </p:sp>
      <p:sp>
        <p:nvSpPr>
          <p:cNvPr id="27" name="TextBox 26"/>
          <p:cNvSpPr txBox="1"/>
          <p:nvPr/>
        </p:nvSpPr>
        <p:spPr>
          <a:xfrm>
            <a:off x="2240280" y="4562856"/>
            <a:ext cx="2112264" cy="283464"/>
          </a:xfrm>
          <a:prstGeom prst="rect">
            <a:avLst/>
          </a:prstGeom>
          <a:noFill/>
        </p:spPr>
        <p:txBody>
          <a:bodyPr wrap="square" lIns="18288" tIns="18288" rIns="18288" bIns="18288" anchor="ctr">
            <a:spAutoFit/>
          </a:bodyPr>
          <a:lstStyle/>
          <a:p>
            <a:pPr>
              <a:spcBef>
                <a:spcPts val="0"/>
              </a:spcBef>
              <a:spcAft>
                <a:spcPts val="0"/>
              </a:spcAft>
            </a:pPr>
            <a:r>
              <a:rPr sz="1739" b="1">
                <a:solidFill>
                  <a:srgbClr val="172B45"/>
                </a:solidFill>
                <a:latin typeface="Aptos"/>
              </a:rPr>
              <a:t>2,160</a:t>
            </a:r>
          </a:p>
        </p:txBody>
      </p:sp>
      <p:sp>
        <p:nvSpPr>
          <p:cNvPr id="28" name="TextBox 27"/>
          <p:cNvSpPr txBox="1"/>
          <p:nvPr/>
        </p:nvSpPr>
        <p:spPr>
          <a:xfrm>
            <a:off x="4764024" y="4562856"/>
            <a:ext cx="2240280" cy="283464"/>
          </a:xfrm>
          <a:prstGeom prst="rect">
            <a:avLst/>
          </a:prstGeom>
          <a:noFill/>
        </p:spPr>
        <p:txBody>
          <a:bodyPr wrap="square" lIns="18288" tIns="18288" rIns="18288" bIns="18288" anchor="ctr">
            <a:spAutoFit/>
          </a:bodyPr>
          <a:lstStyle/>
          <a:p>
            <a:pPr>
              <a:spcBef>
                <a:spcPts val="0"/>
              </a:spcBef>
              <a:spcAft>
                <a:spcPts val="0"/>
              </a:spcAft>
            </a:pPr>
            <a:r>
              <a:rPr sz="1739" b="1">
                <a:solidFill>
                  <a:srgbClr val="172B45"/>
                </a:solidFill>
                <a:latin typeface="Aptos"/>
              </a:rPr>
              <a:t>$205.2K</a:t>
            </a:r>
          </a:p>
        </p:txBody>
      </p:sp>
      <p:sp>
        <p:nvSpPr>
          <p:cNvPr id="29" name="TextBox 28"/>
          <p:cNvSpPr txBox="1"/>
          <p:nvPr/>
        </p:nvSpPr>
        <p:spPr>
          <a:xfrm>
            <a:off x="7461504" y="4562856"/>
            <a:ext cx="2112264" cy="283464"/>
          </a:xfrm>
          <a:prstGeom prst="rect">
            <a:avLst/>
          </a:prstGeom>
          <a:noFill/>
        </p:spPr>
        <p:txBody>
          <a:bodyPr wrap="square" lIns="18288" tIns="18288" rIns="18288" bIns="18288" anchor="ctr">
            <a:spAutoFit/>
          </a:bodyPr>
          <a:lstStyle/>
          <a:p>
            <a:pPr>
              <a:spcBef>
                <a:spcPts val="0"/>
              </a:spcBef>
              <a:spcAft>
                <a:spcPts val="0"/>
              </a:spcAft>
            </a:pPr>
            <a:r>
              <a:rPr sz="1739" b="1">
                <a:solidFill>
                  <a:srgbClr val="172B45"/>
                </a:solidFill>
                <a:latin typeface="Aptos"/>
              </a:rPr>
              <a:t>$71.8K</a:t>
            </a:r>
          </a:p>
        </p:txBody>
      </p:sp>
      <p:sp>
        <p:nvSpPr>
          <p:cNvPr id="30" name="Rounded Rectangle 29"/>
          <p:cNvSpPr/>
          <p:nvPr/>
        </p:nvSpPr>
        <p:spPr>
          <a:xfrm>
            <a:off x="530352" y="5239512"/>
            <a:ext cx="4910328" cy="813816"/>
          </a:xfrm>
          <a:prstGeom prst="roundRect">
            <a:avLst/>
          </a:prstGeom>
          <a:solidFill>
            <a:srgbClr val="E8F1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5376672"/>
            <a:ext cx="4498848" cy="228600"/>
          </a:xfrm>
          <a:prstGeom prst="rect">
            <a:avLst/>
          </a:prstGeom>
          <a:noFill/>
        </p:spPr>
        <p:txBody>
          <a:bodyPr wrap="square" lIns="18288" tIns="18288" rIns="18288" bIns="18288" anchor="ctr">
            <a:spAutoFit/>
          </a:bodyPr>
          <a:lstStyle/>
          <a:p>
            <a:pPr>
              <a:spcBef>
                <a:spcPts val="0"/>
              </a:spcBef>
              <a:spcAft>
                <a:spcPts val="0"/>
              </a:spcAft>
            </a:pPr>
            <a:r>
              <a:rPr sz="1220" b="1">
                <a:solidFill>
                  <a:srgbClr val="1569C7"/>
                </a:solidFill>
                <a:latin typeface="Aptos"/>
              </a:rPr>
              <a:t>ARJUN ACTS → MEERA VERIFIES</a:t>
            </a:r>
          </a:p>
        </p:txBody>
      </p:sp>
      <p:sp>
        <p:nvSpPr>
          <p:cNvPr id="32" name="TextBox 31"/>
          <p:cNvSpPr txBox="1"/>
          <p:nvPr/>
        </p:nvSpPr>
        <p:spPr>
          <a:xfrm>
            <a:off x="694944" y="5641848"/>
            <a:ext cx="4645152" cy="228600"/>
          </a:xfrm>
          <a:prstGeom prst="rect">
            <a:avLst/>
          </a:prstGeom>
          <a:noFill/>
        </p:spPr>
        <p:txBody>
          <a:bodyPr wrap="square" lIns="18288" tIns="18288" rIns="18288" bIns="18288" anchor="ctr">
            <a:spAutoFit/>
          </a:bodyPr>
          <a:lstStyle/>
          <a:p>
            <a:pPr>
              <a:spcBef>
                <a:spcPts val="0"/>
              </a:spcBef>
              <a:spcAft>
                <a:spcPts val="0"/>
              </a:spcAft>
            </a:pPr>
            <a:r>
              <a:rPr sz="1200" b="0">
                <a:solidFill>
                  <a:srgbClr val="13283F"/>
                </a:solidFill>
                <a:latin typeface="Aptos"/>
              </a:rPr>
              <a:t>Insight → approved action → paid visits vs. holdout</a:t>
            </a:r>
          </a:p>
        </p:txBody>
      </p:sp>
      <p:sp>
        <p:nvSpPr>
          <p:cNvPr id="33" name="Rounded Rectangle 32"/>
          <p:cNvSpPr/>
          <p:nvPr/>
        </p:nvSpPr>
        <p:spPr>
          <a:xfrm>
            <a:off x="5605272" y="5239512"/>
            <a:ext cx="5961888" cy="813816"/>
          </a:xfrm>
          <a:prstGeom prst="roundRect">
            <a:avLst/>
          </a:prstGeom>
          <a:solidFill>
            <a:srgbClr val="FEF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751576" y="5376672"/>
            <a:ext cx="5486400" cy="228600"/>
          </a:xfrm>
          <a:prstGeom prst="rect">
            <a:avLst/>
          </a:prstGeom>
          <a:noFill/>
        </p:spPr>
        <p:txBody>
          <a:bodyPr wrap="square" lIns="18288" tIns="18288" rIns="18288" bIns="18288" anchor="ctr">
            <a:spAutoFit/>
          </a:bodyPr>
          <a:lstStyle/>
          <a:p>
            <a:pPr>
              <a:spcBef>
                <a:spcPts val="0"/>
              </a:spcBef>
              <a:spcAft>
                <a:spcPts val="0"/>
              </a:spcAft>
            </a:pPr>
            <a:r>
              <a:rPr sz="1220" b="1">
                <a:solidFill>
                  <a:srgbClr val="B56812"/>
                </a:solidFill>
                <a:latin typeface="Aptos"/>
              </a:rPr>
              <a:t>THE COMMERCIAL TEST</a:t>
            </a:r>
          </a:p>
        </p:txBody>
      </p:sp>
      <p:sp>
        <p:nvSpPr>
          <p:cNvPr id="35" name="TextBox 34"/>
          <p:cNvSpPr txBox="1"/>
          <p:nvPr/>
        </p:nvSpPr>
        <p:spPr>
          <a:xfrm>
            <a:off x="5760720" y="5641848"/>
            <a:ext cx="5586984" cy="228600"/>
          </a:xfrm>
          <a:prstGeom prst="rect">
            <a:avLst/>
          </a:prstGeom>
          <a:noFill/>
        </p:spPr>
        <p:txBody>
          <a:bodyPr wrap="square" lIns="18288" tIns="18288" rIns="18288" bIns="18288" anchor="ctr">
            <a:spAutoFit/>
          </a:bodyPr>
          <a:lstStyle/>
          <a:p>
            <a:pPr>
              <a:spcBef>
                <a:spcPts val="0"/>
              </a:spcBef>
              <a:spcAft>
                <a:spcPts val="0"/>
              </a:spcAft>
            </a:pPr>
            <a:r>
              <a:rPr sz="1200" b="0">
                <a:solidFill>
                  <a:srgbClr val="13283F"/>
                </a:solidFill>
                <a:latin typeface="Aptos"/>
              </a:rPr>
              <a:t>Willingness to pay × measurable value × cost-to-serve</a:t>
            </a:r>
          </a:p>
        </p:txBody>
      </p:sp>
      <p:sp>
        <p:nvSpPr>
          <p:cNvPr id="36" name="TextBox 35"/>
          <p:cNvSpPr txBox="1"/>
          <p:nvPr/>
        </p:nvSpPr>
        <p:spPr>
          <a:xfrm>
            <a:off x="539496" y="6236208"/>
            <a:ext cx="10771632" cy="201168"/>
          </a:xfrm>
          <a:prstGeom prst="rect">
            <a:avLst/>
          </a:prstGeom>
          <a:noFill/>
        </p:spPr>
        <p:txBody>
          <a:bodyPr wrap="square" lIns="18288" tIns="18288" rIns="18288" bIns="18288" anchor="ctr">
            <a:spAutoFit/>
          </a:bodyPr>
          <a:lstStyle/>
          <a:p>
            <a:pPr>
              <a:spcBef>
                <a:spcPts val="0"/>
              </a:spcBef>
              <a:spcAft>
                <a:spcPts val="0"/>
              </a:spcAft>
            </a:pPr>
            <a:r>
              <a:rPr sz="1070" b="0">
                <a:solidFill>
                  <a:srgbClr val="63788C"/>
                </a:solidFill>
                <a:latin typeface="Aptos"/>
              </a:rPr>
              <a:t>Assumptions: $95 ticket, 35% contribution margin. 0.5% is a scenario to test, never a claimed result.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TotalTime>
  <Words>3018</Words>
  <Application>Microsoft Office PowerPoint</Application>
  <PresentationFormat>Widescreen</PresentationFormat>
  <Paragraphs>258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Sreenivas Vinnakota</cp:lastModifiedBy>
  <cp:revision>2</cp:revision>
  <dcterms:created xsi:type="dcterms:W3CDTF">2013-01-27T09:14:16Z</dcterms:created>
  <dcterms:modified xsi:type="dcterms:W3CDTF">2026-10-21T08:43:20Z</dcterms:modified>
  <cp:category/>
</cp:coreProperties>
</file>